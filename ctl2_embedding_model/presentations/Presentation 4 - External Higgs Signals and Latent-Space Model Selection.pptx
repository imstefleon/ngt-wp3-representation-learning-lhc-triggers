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S1</c:v>
                </c:pt>
              </c:strCache>
            </c:strRef>
          </c:tx>
          <c:spPr>
            <a:solidFill>
              <a:srgbClr val="2A78D6"/>
            </a:solidFill>
            <a:ln>
              <a:noFill/>
            </a:ln>
          </c:spPr>
          <c:dPt>
            <c:idx val="2"/>
            <c:spPr>
              <a:solidFill>
                <a:srgbClr val="EC835A"/>
              </a:solidFill>
            </c:spPr>
          </c:dPt>
          <c:cat>
            <c:strRef>
              <c:f>Sheet1!$A$2:$A$4</c:f>
              <c:strCache>
                <c:ptCount val="3"/>
                <c:pt idx="0">
                  <c:v>32</c:v>
                </c:pt>
                <c:pt idx="1">
                  <c:v>64</c:v>
                </c:pt>
                <c:pt idx="2">
                  <c:v>128</c:v>
                </c:pt>
              </c:strCache>
            </c:strRef>
          </c:cat>
          <c:val>
            <c:numRef>
              <c:f>Sheet1!$B$2:$B$4</c:f>
              <c:numCache>
                <c:formatCode>General</c:formatCode>
                <c:ptCount val="3"/>
                <c:pt idx="0">
                  <c:v>5.049</c:v>
                </c:pt>
                <c:pt idx="1">
                  <c:v>4.448</c:v>
                </c:pt>
                <c:pt idx="2">
                  <c:v>1.511</c:v>
                </c:pt>
              </c:numCache>
            </c:numRef>
          </c:val>
        </c:ser>
        <c:dLbls>
          <c:numFmt formatCode="0.00" sourceLinked="0"/>
          <c:txPr>
            <a:bodyPr/>
            <a:lstStyle/>
            <a:p>
              <a:pPr>
                <a:defRPr sz="1050" b="1">
                  <a:solidFill>
                    <a:srgbClr val="0B0B0B"/>
                  </a:solidFill>
                  <a:latin typeface="Segoe UI"/>
                </a:defRPr>
              </a:pPr>
            </a:p>
          </c:txPr>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none"/>
        <c:minorTickMark val="none"/>
        <c:tickLblPos val="nextTo"/>
        <c:spPr>
          <a:ln>
            <a:solidFill>
              <a:srgbClr val="E1E0D9"/>
            </a:solidFill>
          </a:ln>
        </c:spPr>
        <c:txPr>
          <a:bodyPr/>
          <a:lstStyle/>
          <a:p>
            <a:pPr>
              <a:defRPr sz="1050">
                <a:solidFill>
                  <a:srgbClr val="52514E"/>
                </a:solidFill>
                <a:latin typeface="Segoe UI"/>
              </a:defRPr>
            </a:pPr>
          </a:p>
        </c:txPr>
        <c:crossAx val="-2113994440"/>
        <c:crosses val="autoZero"/>
        <c:auto val="1"/>
        <c:lblAlgn val="ctr"/>
        <c:lblOffset val="100"/>
        <c:noMultiLvlLbl val="0"/>
      </c:catAx>
      <c:valAx>
        <c:axId val="-2113994440"/>
        <c:scaling>
          <c:max val="6.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Presentation 4. Since the last update, we broadened the benchmark, tested six loss-objective variants, swept the balanced configuration across latent dimensions, and - the main new piece - evaluated external Higgs-like signals (HH, VBFH, ggH) that were never used in training, alongside the trained HH4B class. We also ran an exploratory VICReg-style objective as a further check. Everything in this deck uses real numbers from the analysis reports and the unified experiment CSV - nothing is estimated.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for all of this work is anomaly detection, not classification accuracy. We're trying to learn a latent representation from L1-only event information - so no offline reconstruction - that would help flag rare or unseen physics signals at trigger level. The current focus is specifically on how HH4B, which we do train on, and a set of external Higgs-like samples we never train on, behave once they're mapped into that latent space.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changed since the last presentation. We broadened the label set to ten SM superclasses instead of five - shown on the right, with HH4B as the trained anomaly target. We tested six different loss-objective configurations on that broader set. We re-ran the best-performing balanced configuration at three latent dimensions to check whether more capacity helps. And the two new pieces: we evaluated external Higgs-like samples - HH, VBFH, ggH, shown in the lower card - that were never part of training, alongside the trained HH4B class as a reference point. We also added an exploratory VICReg-style objective as a further representation-learning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six 10-class objective variants, all at latent_dim=64, with only the loss function changed. Source: the unified experiment CSV plus the July 31 loss-objective comparison note. HH4B F1 barely moves across all six, but eval-quality and effective rank swing enormously - eval-quality goes from essentially zero with label smoothing to 0.229 with covariance regularization at 0.001. That's the strongest evidence we have that the objective, not the label set or capacity, is the main lever on latent geometry. The two rows highlighted are the ones we carry forward: SupCon 0.05 as the balanced candidate, covariance 0.001 as the anomaly-oriented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complementary diagnostics: effective rank from PCA on the latent covariance, and head-Fisher effective rank from a Fisher approximation on the classifier head. The headline number: at the exact same latent_dim=64, effective rank spans 2.84 to 29.12 depending only on which objective was used. That's roughly a ten-times spread from the loss function alone. The figure on the right is the existing comparison plot, but it only has data for three of the six variants - focal, SupCon 0.10, and covariance 0.005 - so don't present it as full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tests whether giving the model more latent room helps. It doesn't, at least not cleanly: effective rank actually goes down as latent_dim goes from 32 to 128, and eval-quality nearly vanishes at 64 before recovering at 128. HH4B F1 barely moves at all. So capacity is not the lever - consistent with what we found for the objective comparison on the previous slide. The eval-quality collapse at 64 needs a repeat run before we read anything into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HH4B is a trained class, so we have a real recall/tag-rate number for it. HH, VBFH, and ggH are external - the model has never seen them in training, so there's no accuracy to report for them. What we can report is where the classifier maps them among the trained classes, and separately, how far they sit from the SM background in latent-space geometry. Those two views don't always agree, which is exactly why we look at both.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models are latent_dim=128, both 10-class. For trained hh4b, the balanced model tags it correctly 62% of the time versus 57% for the anomaly-oriented model. For the external signals: hh partially maps toward hh4b-like behavior under both models but its dominant class differs - ww for balanced, top for anomaly-oriented. vbfh and ggh both land mostly on wz under both models, with HH4B tag rates around 1-2% - essentially not recognized as HH4B-like by either model's classifier head.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structural comparison. The 4-class model was trained before HH4B existed as a category, so it has nowhere to put HH4B-like events except into the four SM classes it knows. Every Higgs-like sample, including the trained-elsewhere HH4B itself, gets pushed mostly into Top, and ggH mostly into QCD. There's no HH4B tag rate to report for this model - it's not available, not zero, because the output simply doesn't exist. This is the structural reason we moved to the 10-class setup.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geometric side of the story. The composite eval-quality score for trained hh4b is much higher under the balanced model than the anomaly-oriented one, which is counter to what the name 'anomaly-oriented' suggests. But ggH gets an enormous Mahalanobis distance under the anomaly-oriented model - far larger than anything else in either model. So the two models separate signals differently, and neither view alone tells the full story. This is the core argument for looking at both classifier response and anomaly-score geometry together.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VICReg-style is a further exploratory objective, tested at two latent dimensions. The standout number is the trained-HH4B tag rate at latent_dim=64: 0.6385, the highest of any model we've evaluated so far in this deck, ahead of both the balanced and anomaly-oriented 10-class models. But that improvement doesn't carry over to the external signals - HH, VBFH, and ggH still mostly don't map to HH4B, at similar rates to what we saw before. So this is a promising direction worth continuing, not yet a replacement for the two main candidates.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Pulling it together: the move to 10 classes is structurally necessary for this to be an anomaly-detection study at all, since the 4-class model literally cannot express an HH4B-like output. Across every comparison in this deck, the objective function - not label granularity or latent capacity alone - is the strongest lever on latent geometry. HH shows partial overlap with HH4B, but VBFH and ggH consistently land on WZ-like background under every model we've tried, including VICReg. The balanced SupCon configuration stays our most stable candidate; the other two are valuable comparisons, not competitors ready to replace it yet.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interpretation we want to land on: pick a model by accuracy or HH4B F1 alone and you'd miss the story on this slide entirely - the covariance and VICReg runs both score worse on those two metrics while doing something genuinely useful geometrically. So the current working split is: SupCon 0.05 as the main balanced candidate, covariance 0.001 kept as an anomaly-geometry comparison, and VICReg as an exploratory direction we're not ready to select yet but that shows real promise on the trained-HH4B tag rate.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follow directly from the gaps in this deck: the external evaluation isn't complete for every model combination yet, we only have four Higgs-like signal groups and more would help, we haven't yet systematically compared anomaly-score distributions across signal groups side by side, and representation-objective testing continues beyond VICReg. Longer term, whatever representation we settle on needs to be checked against L1/FPGA resource constraints, not just offline metrics.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with the exact source paths for everything in this deck, for anyone who wants to check a number directly against the report or the CSV.</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058400" cy="365760"/>
          </a:xfrm>
          <a:prstGeom prst="rect">
            <a:avLst/>
          </a:prstGeom>
          <a:noFill/>
        </p:spPr>
        <p:txBody>
          <a:bodyPr wrap="square">
            <a:spAutoFit/>
          </a:bodyPr>
          <a:lstStyle/>
          <a:p>
            <a:pPr algn="l"/>
            <a:r>
              <a:rPr sz="1300" b="1" i="0" spc="130">
                <a:solidFill>
                  <a:srgbClr val="124A8C"/>
                </a:solidFill>
                <a:latin typeface="Segoe UI"/>
              </a:rPr>
              <a:t>CERN OPENLAB  ·  CMS LEVEL-1 TRIGGER  ·  ANOMALY DETECTION R&amp;D</a:t>
            </a:r>
          </a:p>
        </p:txBody>
      </p:sp>
      <p:sp>
        <p:nvSpPr>
          <p:cNvPr id="4" name="TextBox 3"/>
          <p:cNvSpPr txBox="1"/>
          <p:nvPr/>
        </p:nvSpPr>
        <p:spPr>
          <a:xfrm>
            <a:off x="640080" y="2148840"/>
            <a:ext cx="10972800" cy="1737360"/>
          </a:xfrm>
          <a:prstGeom prst="rect">
            <a:avLst/>
          </a:prstGeom>
          <a:noFill/>
        </p:spPr>
        <p:txBody>
          <a:bodyPr wrap="square">
            <a:spAutoFit/>
          </a:bodyPr>
          <a:lstStyle/>
          <a:p>
            <a:pPr algn="l"/>
            <a:r>
              <a:rPr sz="3600" b="1" i="0">
                <a:solidFill>
                  <a:srgbClr val="0B0B0B"/>
                </a:solidFill>
                <a:latin typeface="Segoe UI"/>
              </a:rPr>
              <a:t>Presentation 4
External Higgs Signals and
Latent-Space Model Selection</a:t>
            </a:r>
          </a:p>
        </p:txBody>
      </p:sp>
      <p:sp>
        <p:nvSpPr>
          <p:cNvPr id="5" name="TextBox 4"/>
          <p:cNvSpPr txBox="1"/>
          <p:nvPr/>
        </p:nvSpPr>
        <p:spPr>
          <a:xfrm>
            <a:off x="640080" y="4160520"/>
            <a:ext cx="10241280" cy="548640"/>
          </a:xfrm>
          <a:prstGeom prst="rect">
            <a:avLst/>
          </a:prstGeom>
          <a:noFill/>
        </p:spPr>
        <p:txBody>
          <a:bodyPr wrap="square">
            <a:spAutoFit/>
          </a:bodyPr>
          <a:lstStyle/>
          <a:p>
            <a:pPr algn="l"/>
            <a:r>
              <a:rPr sz="1550" b="0" i="0">
                <a:solidFill>
                  <a:srgbClr val="52514E"/>
                </a:solidFill>
                <a:latin typeface="Segoe UI"/>
              </a:rPr>
              <a:t>Comparing a balanced representation model and an anomaly-oriented model against
external Higgs-like signals, plus an exploratory VICReg-style check</a:t>
            </a:r>
          </a:p>
        </p:txBody>
      </p:sp>
      <p:sp>
        <p:nvSpPr>
          <p:cNvPr id="6" name="TextBox 5"/>
          <p:cNvSpPr txBox="1"/>
          <p:nvPr/>
        </p:nvSpPr>
        <p:spPr>
          <a:xfrm>
            <a:off x="640080" y="5989320"/>
            <a:ext cx="7955279" cy="640080"/>
          </a:xfrm>
          <a:prstGeom prst="rect">
            <a:avLst/>
          </a:prstGeom>
          <a:noFill/>
        </p:spPr>
        <p:txBody>
          <a:bodyPr wrap="square">
            <a:spAutoFit/>
          </a:bodyPr>
          <a:lstStyle/>
          <a:p>
            <a:pPr algn="l"/>
            <a:r>
              <a:rPr sz="1200" b="0" i="0">
                <a:solidFill>
                  <a:srgbClr val="898781"/>
                </a:solidFill>
                <a:latin typeface="Segoe UI"/>
              </a:rPr>
              <a:t>Model: MHA event encoder, 10-class SM superclass benchmark
Signals: HH4B (trained) · HH, VBFH, ggH (external)</a:t>
            </a:r>
          </a:p>
        </p:txBody>
      </p:sp>
      <p:sp>
        <p:nvSpPr>
          <p:cNvPr id="7" name="TextBox 6"/>
          <p:cNvSpPr txBox="1"/>
          <p:nvPr/>
        </p:nvSpPr>
        <p:spPr>
          <a:xfrm>
            <a:off x="9692640" y="5989320"/>
            <a:ext cx="2011680" cy="548640"/>
          </a:xfrm>
          <a:prstGeom prst="rect">
            <a:avLst/>
          </a:prstGeom>
          <a:noFill/>
        </p:spPr>
        <p:txBody>
          <a:bodyPr wrap="square">
            <a:spAutoFit/>
          </a:bodyPr>
          <a:lstStyle/>
          <a:p>
            <a:pPr algn="r"/>
            <a:r>
              <a:rPr sz="1200" b="0" i="0">
                <a:solidFill>
                  <a:srgbClr val="898781"/>
                </a:solidFill>
                <a:latin typeface="Segoe UI"/>
              </a:rPr>
              <a:t>Project update
2026-08-06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MOTIVATION</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01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Anomaly detection at L1, not only classification</a:t>
            </a:r>
          </a:p>
        </p:txBody>
      </p:sp>
      <p:sp>
        <p:nvSpPr>
          <p:cNvPr id="6" name="TextBox 5"/>
          <p:cNvSpPr txBox="1"/>
          <p:nvPr/>
        </p:nvSpPr>
        <p:spPr>
          <a:xfrm>
            <a:off x="731520" y="1828800"/>
            <a:ext cx="10698480" cy="3200400"/>
          </a:xfrm>
          <a:prstGeom prst="rect">
            <a:avLst/>
          </a:prstGeom>
          <a:noFill/>
        </p:spPr>
        <p:txBody>
          <a:bodyPr wrap="square">
            <a:spAutoFit/>
          </a:bodyPr>
          <a:lstStyle/>
          <a:p>
            <a:pPr>
              <a:lnSpc>
                <a:spcPct val="110000"/>
              </a:lnSpc>
              <a:spcAft>
                <a:spcPts val="1600"/>
              </a:spcAft>
            </a:pPr>
            <a:r>
              <a:rPr sz="1100" b="0" i="0">
                <a:solidFill>
                  <a:srgbClr val="2A78D6"/>
                </a:solidFill>
                <a:latin typeface="Segoe UI"/>
              </a:rPr>
              <a:t>●   </a:t>
            </a:r>
            <a:r>
              <a:rPr sz="1600" b="1" i="0">
                <a:solidFill>
                  <a:srgbClr val="0B0B0B"/>
                </a:solidFill>
                <a:latin typeface="Segoe UI"/>
              </a:rPr>
              <a:t>This project is about anomaly detection at L1 trigger level</a:t>
            </a:r>
            <a:r>
              <a:rPr sz="1600" b="0" i="0">
                <a:solidFill>
                  <a:srgbClr val="0B0B0B"/>
                </a:solidFill>
                <a:latin typeface="Segoe UI"/>
              </a:rPr>
              <a:t>, not only classification.</a:t>
            </a:r>
          </a:p>
          <a:p>
            <a:pPr>
              <a:lnSpc>
                <a:spcPct val="110000"/>
              </a:lnSpc>
              <a:spcAft>
                <a:spcPts val="1600"/>
              </a:spcAft>
            </a:pPr>
            <a:r>
              <a:rPr sz="1100" b="0" i="0">
                <a:solidFill>
                  <a:srgbClr val="2A78D6"/>
                </a:solidFill>
                <a:latin typeface="Segoe UI"/>
              </a:rPr>
              <a:t>●   </a:t>
            </a:r>
            <a:r>
              <a:rPr sz="1600" b="0" i="0">
                <a:solidFill>
                  <a:srgbClr val="0B0B0B"/>
                </a:solidFill>
                <a:latin typeface="Segoe UI"/>
              </a:rPr>
              <a:t>The goal is to learn a latent representation of L1-only event information that can help identify rare or unseen signals.</a:t>
            </a:r>
          </a:p>
          <a:p>
            <a:pPr>
              <a:lnSpc>
                <a:spcPct val="110000"/>
              </a:lnSpc>
              <a:spcAft>
                <a:spcPts val="1600"/>
              </a:spcAft>
            </a:pPr>
            <a:r>
              <a:rPr sz="1100" b="0" i="0">
                <a:solidFill>
                  <a:srgbClr val="2A78D6"/>
                </a:solidFill>
                <a:latin typeface="Segoe UI"/>
              </a:rPr>
              <a:t>●   </a:t>
            </a:r>
            <a:r>
              <a:rPr sz="1600" b="1" i="0">
                <a:solidFill>
                  <a:srgbClr val="0B0B0B"/>
                </a:solidFill>
                <a:latin typeface="Segoe UI"/>
              </a:rPr>
              <a:t>Current focus</a:t>
            </a:r>
            <a:r>
              <a:rPr sz="1600" b="0" i="0">
                <a:solidFill>
                  <a:srgbClr val="0B0B0B"/>
                </a:solidFill>
                <a:latin typeface="Segoe UI"/>
              </a:rPr>
              <a:t>: understand how HH4B and external Higgs-like samples behave in latent space.</a:t>
            </a:r>
          </a:p>
        </p:txBody>
      </p:sp>
      <p:sp>
        <p:nvSpPr>
          <p:cNvPr id="7" name="Oval 6"/>
          <p:cNvSpPr/>
          <p:nvPr/>
        </p:nvSpPr>
        <p:spPr>
          <a:xfrm>
            <a:off x="5222595"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WHAT CHANGED SINCE THE PREVIOUS PRESENTATION</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02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Five new pieces of work since Presentation 3</a:t>
            </a:r>
          </a:p>
        </p:txBody>
      </p:sp>
      <p:sp>
        <p:nvSpPr>
          <p:cNvPr id="6" name="TextBox 5"/>
          <p:cNvSpPr txBox="1"/>
          <p:nvPr/>
        </p:nvSpPr>
        <p:spPr>
          <a:xfrm>
            <a:off x="548640" y="1691640"/>
            <a:ext cx="5806440" cy="4663440"/>
          </a:xfrm>
          <a:prstGeom prst="rect">
            <a:avLst/>
          </a:prstGeom>
          <a:noFill/>
        </p:spPr>
        <p:txBody>
          <a:bodyPr wrap="square">
            <a:spAutoFit/>
          </a:bodyPr>
          <a:lstStyle/>
          <a:p>
            <a:pPr>
              <a:lnSpc>
                <a:spcPct val="110000"/>
              </a:lnSpc>
              <a:spcAft>
                <a:spcPts val="1100"/>
              </a:spcAft>
            </a:pPr>
            <a:r>
              <a:rPr sz="850" b="0" i="0">
                <a:solidFill>
                  <a:srgbClr val="2A78D6"/>
                </a:solidFill>
                <a:latin typeface="Segoe UI"/>
              </a:rPr>
              <a:t>●   </a:t>
            </a:r>
            <a:r>
              <a:rPr sz="1350" b="1" i="0">
                <a:solidFill>
                  <a:srgbClr val="0B0B0B"/>
                </a:solidFill>
                <a:latin typeface="Segoe UI"/>
              </a:rPr>
              <a:t>Broader label set</a:t>
            </a:r>
            <a:r>
              <a:rPr sz="1350" b="0" i="0">
                <a:solidFill>
                  <a:srgbClr val="0B0B0B"/>
                </a:solidFill>
                <a:latin typeface="Segoe UI"/>
              </a:rPr>
              <a:t>: 5-class HH4B setup → 10-class SM superclass setup.</a:t>
            </a:r>
          </a:p>
          <a:p>
            <a:pPr>
              <a:lnSpc>
                <a:spcPct val="110000"/>
              </a:lnSpc>
              <a:spcAft>
                <a:spcPts val="1100"/>
              </a:spcAft>
            </a:pPr>
            <a:r>
              <a:rPr sz="850" b="0" i="0">
                <a:solidFill>
                  <a:srgbClr val="2A78D6"/>
                </a:solidFill>
                <a:latin typeface="Segoe UI"/>
              </a:rPr>
              <a:t>●   </a:t>
            </a:r>
            <a:r>
              <a:rPr sz="1350" b="1" i="0">
                <a:solidFill>
                  <a:srgbClr val="0B0B0B"/>
                </a:solidFill>
                <a:latin typeface="Segoe UI"/>
              </a:rPr>
              <a:t>Objective sweep</a:t>
            </a:r>
            <a:r>
              <a:rPr sz="1350" b="0" i="0">
                <a:solidFill>
                  <a:srgbClr val="0B0B0B"/>
                </a:solidFill>
                <a:latin typeface="Segoe UI"/>
              </a:rPr>
              <a:t>: evaluated 6 objective/model configurations.</a:t>
            </a:r>
          </a:p>
          <a:p>
            <a:pPr>
              <a:lnSpc>
                <a:spcPct val="110000"/>
              </a:lnSpc>
              <a:spcAft>
                <a:spcPts val="1100"/>
              </a:spcAft>
            </a:pPr>
            <a:r>
              <a:rPr sz="850" b="0" i="0">
                <a:solidFill>
                  <a:srgbClr val="2A78D6"/>
                </a:solidFill>
                <a:latin typeface="Segoe UI"/>
              </a:rPr>
              <a:t>●   </a:t>
            </a:r>
            <a:r>
              <a:rPr sz="1350" b="1" i="0">
                <a:solidFill>
                  <a:srgbClr val="0B0B0B"/>
                </a:solidFill>
                <a:latin typeface="Segoe UI"/>
              </a:rPr>
              <a:t>Capacity sweep</a:t>
            </a:r>
            <a:r>
              <a:rPr sz="1350" b="0" i="0">
                <a:solidFill>
                  <a:srgbClr val="0B0B0B"/>
                </a:solidFill>
                <a:latin typeface="Segoe UI"/>
              </a:rPr>
              <a:t>: re-ran the best balanced configuration at latent_dim = 32, 64, 128.</a:t>
            </a:r>
          </a:p>
          <a:p>
            <a:pPr>
              <a:lnSpc>
                <a:spcPct val="110000"/>
              </a:lnSpc>
              <a:spcAft>
                <a:spcPts val="1100"/>
              </a:spcAft>
            </a:pPr>
            <a:r>
              <a:rPr sz="850" b="0" i="0">
                <a:solidFill>
                  <a:srgbClr val="2A78D6"/>
                </a:solidFill>
                <a:latin typeface="Segoe UI"/>
              </a:rPr>
              <a:t>●   </a:t>
            </a:r>
            <a:r>
              <a:rPr sz="1350" b="1" i="0">
                <a:solidFill>
                  <a:srgbClr val="0B0B0B"/>
                </a:solidFill>
                <a:latin typeface="Segoe UI"/>
              </a:rPr>
              <a:t>External signal evaluation (new)</a:t>
            </a:r>
            <a:r>
              <a:rPr sz="1350" b="0" i="0">
                <a:solidFill>
                  <a:srgbClr val="0B0B0B"/>
                </a:solidFill>
                <a:latin typeface="Segoe UI"/>
              </a:rPr>
              <a:t>: added HH, VBFH, ggH, evaluated alongside the trained HH4B class.</a:t>
            </a:r>
          </a:p>
          <a:p>
            <a:pPr>
              <a:lnSpc>
                <a:spcPct val="110000"/>
              </a:lnSpc>
              <a:spcAft>
                <a:spcPts val="1100"/>
              </a:spcAft>
            </a:pPr>
            <a:r>
              <a:rPr sz="850" b="0" i="0">
                <a:solidFill>
                  <a:srgbClr val="2A78D6"/>
                </a:solidFill>
                <a:latin typeface="Segoe UI"/>
              </a:rPr>
              <a:t>●   </a:t>
            </a:r>
            <a:r>
              <a:rPr sz="1350" b="1" i="0">
                <a:solidFill>
                  <a:srgbClr val="0B0B0B"/>
                </a:solidFill>
                <a:latin typeface="Segoe UI"/>
              </a:rPr>
              <a:t>Exploratory objective (new)</a:t>
            </a:r>
            <a:r>
              <a:rPr sz="1350" b="0" i="0">
                <a:solidFill>
                  <a:srgbClr val="0B0B0B"/>
                </a:solidFill>
                <a:latin typeface="Segoe UI"/>
              </a:rPr>
              <a:t>: added VICReg-style representation-learning tests.</a:t>
            </a:r>
          </a:p>
        </p:txBody>
      </p:sp>
      <p:sp>
        <p:nvSpPr>
          <p:cNvPr id="7" name="Rounded Rectangle 6"/>
          <p:cNvSpPr/>
          <p:nvPr/>
        </p:nvSpPr>
        <p:spPr>
          <a:xfrm>
            <a:off x="6537960" y="1691640"/>
            <a:ext cx="5166360" cy="2148840"/>
          </a:xfrm>
          <a:prstGeom prst="roundRect">
            <a:avLst>
              <a:gd name="adj" fmla="val 6000"/>
            </a:avLst>
          </a:prstGeom>
          <a:solidFill>
            <a:srgbClr val="FFFFFF"/>
          </a:solidFill>
          <a:ln w="9525">
            <a:solidFill>
              <a:srgbClr val="D8D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20840" y="1828800"/>
            <a:ext cx="4754880" cy="237744"/>
          </a:xfrm>
          <a:prstGeom prst="rect">
            <a:avLst/>
          </a:prstGeom>
          <a:noFill/>
        </p:spPr>
        <p:txBody>
          <a:bodyPr wrap="square">
            <a:spAutoFit/>
          </a:bodyPr>
          <a:lstStyle/>
          <a:p>
            <a:pPr algn="l"/>
            <a:r>
              <a:rPr sz="950" b="1" i="0" spc="90">
                <a:solidFill>
                  <a:srgbClr val="898781"/>
                </a:solidFill>
                <a:latin typeface="Segoe UI"/>
              </a:rPr>
              <a:t>10-CLASS SM SUPERCLASS BENCHMARK</a:t>
            </a:r>
          </a:p>
        </p:txBody>
      </p:sp>
      <p:sp>
        <p:nvSpPr>
          <p:cNvPr id="9" name="Rounded Rectangle 8"/>
          <p:cNvSpPr/>
          <p:nvPr/>
        </p:nvSpPr>
        <p:spPr>
          <a:xfrm>
            <a:off x="6720840" y="2148840"/>
            <a:ext cx="1175004" cy="329184"/>
          </a:xfrm>
          <a:prstGeom prst="roundRect">
            <a:avLst>
              <a:gd name="adj" fmla="val 50000"/>
            </a:avLst>
          </a:prstGeom>
          <a:solidFill>
            <a:srgbClr val="E7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812280" y="2281428"/>
            <a:ext cx="64008" cy="6400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0296" y="2148840"/>
            <a:ext cx="937260" cy="329184"/>
          </a:xfrm>
          <a:prstGeom prst="rect">
            <a:avLst/>
          </a:prstGeom>
          <a:noFill/>
        </p:spPr>
        <p:txBody>
          <a:bodyPr wrap="none" anchor="ctr">
            <a:spAutoFit/>
          </a:bodyPr>
          <a:lstStyle/>
          <a:p>
            <a:r>
              <a:rPr sz="950" b="1" i="0">
                <a:solidFill>
                  <a:srgbClr val="124A8C"/>
                </a:solidFill>
                <a:latin typeface="Segoe UI"/>
              </a:rPr>
              <a:t>MinBias</a:t>
            </a:r>
          </a:p>
        </p:txBody>
      </p:sp>
      <p:sp>
        <p:nvSpPr>
          <p:cNvPr id="12" name="Rounded Rectangle 11"/>
          <p:cNvSpPr/>
          <p:nvPr/>
        </p:nvSpPr>
        <p:spPr>
          <a:xfrm>
            <a:off x="8005572" y="2148840"/>
            <a:ext cx="790956" cy="329184"/>
          </a:xfrm>
          <a:prstGeom prst="roundRect">
            <a:avLst>
              <a:gd name="adj" fmla="val 50000"/>
            </a:avLst>
          </a:prstGeom>
          <a:solidFill>
            <a:srgbClr val="E7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097012" y="2281428"/>
            <a:ext cx="64008" cy="6400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5028" y="2148840"/>
            <a:ext cx="553212" cy="329184"/>
          </a:xfrm>
          <a:prstGeom prst="rect">
            <a:avLst/>
          </a:prstGeom>
          <a:noFill/>
        </p:spPr>
        <p:txBody>
          <a:bodyPr wrap="none" anchor="ctr">
            <a:spAutoFit/>
          </a:bodyPr>
          <a:lstStyle/>
          <a:p>
            <a:r>
              <a:rPr sz="950" b="1" i="0">
                <a:solidFill>
                  <a:srgbClr val="124A8C"/>
                </a:solidFill>
                <a:latin typeface="Segoe UI"/>
              </a:rPr>
              <a:t>QCD</a:t>
            </a:r>
          </a:p>
        </p:txBody>
      </p:sp>
      <p:sp>
        <p:nvSpPr>
          <p:cNvPr id="15" name="Rounded Rectangle 14"/>
          <p:cNvSpPr/>
          <p:nvPr/>
        </p:nvSpPr>
        <p:spPr>
          <a:xfrm>
            <a:off x="8906256" y="2148840"/>
            <a:ext cx="694944" cy="329184"/>
          </a:xfrm>
          <a:prstGeom prst="roundRect">
            <a:avLst>
              <a:gd name="adj" fmla="val 50000"/>
            </a:avLst>
          </a:prstGeom>
          <a:solidFill>
            <a:srgbClr val="E7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997696" y="2281428"/>
            <a:ext cx="64008" cy="6400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25712" y="2148840"/>
            <a:ext cx="457200" cy="329184"/>
          </a:xfrm>
          <a:prstGeom prst="rect">
            <a:avLst/>
          </a:prstGeom>
          <a:noFill/>
        </p:spPr>
        <p:txBody>
          <a:bodyPr wrap="none" anchor="ctr">
            <a:spAutoFit/>
          </a:bodyPr>
          <a:lstStyle/>
          <a:p>
            <a:r>
              <a:rPr sz="950" b="1" i="0">
                <a:solidFill>
                  <a:srgbClr val="124A8C"/>
                </a:solidFill>
                <a:latin typeface="Segoe UI"/>
              </a:rPr>
              <a:t>DY</a:t>
            </a:r>
          </a:p>
        </p:txBody>
      </p:sp>
      <p:sp>
        <p:nvSpPr>
          <p:cNvPr id="18" name="Rounded Rectangle 17"/>
          <p:cNvSpPr/>
          <p:nvPr/>
        </p:nvSpPr>
        <p:spPr>
          <a:xfrm>
            <a:off x="9710928" y="2148840"/>
            <a:ext cx="790956" cy="329184"/>
          </a:xfrm>
          <a:prstGeom prst="roundRect">
            <a:avLst>
              <a:gd name="adj" fmla="val 50000"/>
            </a:avLst>
          </a:prstGeom>
          <a:solidFill>
            <a:srgbClr val="E7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802368" y="2281428"/>
            <a:ext cx="64008" cy="6400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30384" y="2148840"/>
            <a:ext cx="553212" cy="329184"/>
          </a:xfrm>
          <a:prstGeom prst="rect">
            <a:avLst/>
          </a:prstGeom>
          <a:noFill/>
        </p:spPr>
        <p:txBody>
          <a:bodyPr wrap="none" anchor="ctr">
            <a:spAutoFit/>
          </a:bodyPr>
          <a:lstStyle/>
          <a:p>
            <a:r>
              <a:rPr sz="950" b="1" i="0">
                <a:solidFill>
                  <a:srgbClr val="124A8C"/>
                </a:solidFill>
                <a:latin typeface="Segoe UI"/>
              </a:rPr>
              <a:t>Top</a:t>
            </a:r>
          </a:p>
        </p:txBody>
      </p:sp>
      <p:sp>
        <p:nvSpPr>
          <p:cNvPr id="21" name="Rounded Rectangle 20"/>
          <p:cNvSpPr/>
          <p:nvPr/>
        </p:nvSpPr>
        <p:spPr>
          <a:xfrm>
            <a:off x="6720840" y="2578608"/>
            <a:ext cx="1078992" cy="329184"/>
          </a:xfrm>
          <a:prstGeom prst="roundRect">
            <a:avLst>
              <a:gd name="adj" fmla="val 50000"/>
            </a:avLst>
          </a:prstGeom>
          <a:solidFill>
            <a:srgbClr val="E6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12280" y="2711196"/>
            <a:ext cx="64008" cy="6400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0296" y="2578608"/>
            <a:ext cx="841248" cy="329184"/>
          </a:xfrm>
          <a:prstGeom prst="rect">
            <a:avLst/>
          </a:prstGeom>
          <a:noFill/>
        </p:spPr>
        <p:txBody>
          <a:bodyPr wrap="none" anchor="ctr">
            <a:spAutoFit/>
          </a:bodyPr>
          <a:lstStyle/>
          <a:p>
            <a:r>
              <a:rPr sz="950" b="1" i="0">
                <a:solidFill>
                  <a:srgbClr val="0CA30C"/>
                </a:solidFill>
                <a:latin typeface="Segoe UI"/>
              </a:rPr>
              <a:t>W+jets</a:t>
            </a:r>
          </a:p>
        </p:txBody>
      </p:sp>
      <p:sp>
        <p:nvSpPr>
          <p:cNvPr id="24" name="Rounded Rectangle 23"/>
          <p:cNvSpPr/>
          <p:nvPr/>
        </p:nvSpPr>
        <p:spPr>
          <a:xfrm>
            <a:off x="7909560" y="2578608"/>
            <a:ext cx="694944" cy="329184"/>
          </a:xfrm>
          <a:prstGeom prst="roundRect">
            <a:avLst>
              <a:gd name="adj" fmla="val 50000"/>
            </a:avLst>
          </a:prstGeom>
          <a:solidFill>
            <a:srgbClr val="E6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001000" y="2711196"/>
            <a:ext cx="64008" cy="6400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29016" y="2578608"/>
            <a:ext cx="457200" cy="329184"/>
          </a:xfrm>
          <a:prstGeom prst="rect">
            <a:avLst/>
          </a:prstGeom>
          <a:noFill/>
        </p:spPr>
        <p:txBody>
          <a:bodyPr wrap="none" anchor="ctr">
            <a:spAutoFit/>
          </a:bodyPr>
          <a:lstStyle/>
          <a:p>
            <a:r>
              <a:rPr sz="950" b="1" i="0">
                <a:solidFill>
                  <a:srgbClr val="0CA30C"/>
                </a:solidFill>
                <a:latin typeface="Segoe UI"/>
              </a:rPr>
              <a:t>WW</a:t>
            </a:r>
          </a:p>
        </p:txBody>
      </p:sp>
      <p:sp>
        <p:nvSpPr>
          <p:cNvPr id="27" name="Rounded Rectangle 26"/>
          <p:cNvSpPr/>
          <p:nvPr/>
        </p:nvSpPr>
        <p:spPr>
          <a:xfrm>
            <a:off x="8714232" y="2578608"/>
            <a:ext cx="694944" cy="329184"/>
          </a:xfrm>
          <a:prstGeom prst="roundRect">
            <a:avLst>
              <a:gd name="adj" fmla="val 50000"/>
            </a:avLst>
          </a:prstGeom>
          <a:solidFill>
            <a:srgbClr val="E6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805672" y="2711196"/>
            <a:ext cx="64008" cy="6400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33688" y="2578608"/>
            <a:ext cx="457200" cy="329184"/>
          </a:xfrm>
          <a:prstGeom prst="rect">
            <a:avLst/>
          </a:prstGeom>
          <a:noFill/>
        </p:spPr>
        <p:txBody>
          <a:bodyPr wrap="none" anchor="ctr">
            <a:spAutoFit/>
          </a:bodyPr>
          <a:lstStyle/>
          <a:p>
            <a:r>
              <a:rPr sz="950" b="1" i="0">
                <a:solidFill>
                  <a:srgbClr val="0CA30C"/>
                </a:solidFill>
                <a:latin typeface="Segoe UI"/>
              </a:rPr>
              <a:t>WZ</a:t>
            </a:r>
          </a:p>
        </p:txBody>
      </p:sp>
      <p:sp>
        <p:nvSpPr>
          <p:cNvPr id="30" name="Rounded Rectangle 29"/>
          <p:cNvSpPr/>
          <p:nvPr/>
        </p:nvSpPr>
        <p:spPr>
          <a:xfrm>
            <a:off x="9518904" y="2578608"/>
            <a:ext cx="790956" cy="329184"/>
          </a:xfrm>
          <a:prstGeom prst="roundRect">
            <a:avLst>
              <a:gd name="adj" fmla="val 50000"/>
            </a:avLst>
          </a:prstGeom>
          <a:solidFill>
            <a:srgbClr val="E6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10344" y="2711196"/>
            <a:ext cx="64008" cy="6400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38360" y="2578608"/>
            <a:ext cx="553212" cy="329184"/>
          </a:xfrm>
          <a:prstGeom prst="rect">
            <a:avLst/>
          </a:prstGeom>
          <a:noFill/>
        </p:spPr>
        <p:txBody>
          <a:bodyPr wrap="none" anchor="ctr">
            <a:spAutoFit/>
          </a:bodyPr>
          <a:lstStyle/>
          <a:p>
            <a:r>
              <a:rPr sz="950" b="1" i="0">
                <a:solidFill>
                  <a:srgbClr val="0CA30C"/>
                </a:solidFill>
                <a:latin typeface="Segoe UI"/>
              </a:rPr>
              <a:t>ttW</a:t>
            </a:r>
          </a:p>
        </p:txBody>
      </p:sp>
      <p:sp>
        <p:nvSpPr>
          <p:cNvPr id="33" name="Rounded Rectangle 32"/>
          <p:cNvSpPr/>
          <p:nvPr/>
        </p:nvSpPr>
        <p:spPr>
          <a:xfrm>
            <a:off x="10419588" y="2578608"/>
            <a:ext cx="790956" cy="329184"/>
          </a:xfrm>
          <a:prstGeom prst="roundRect">
            <a:avLst>
              <a:gd name="adj" fmla="val 50000"/>
            </a:avLst>
          </a:prstGeom>
          <a:solidFill>
            <a:srgbClr val="E6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511028" y="2711196"/>
            <a:ext cx="64008" cy="6400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39044" y="2578608"/>
            <a:ext cx="553212" cy="329184"/>
          </a:xfrm>
          <a:prstGeom prst="rect">
            <a:avLst/>
          </a:prstGeom>
          <a:noFill/>
        </p:spPr>
        <p:txBody>
          <a:bodyPr wrap="none" anchor="ctr">
            <a:spAutoFit/>
          </a:bodyPr>
          <a:lstStyle/>
          <a:p>
            <a:r>
              <a:rPr sz="950" b="1" i="0">
                <a:solidFill>
                  <a:srgbClr val="0CA30C"/>
                </a:solidFill>
                <a:latin typeface="Segoe UI"/>
              </a:rPr>
              <a:t>ttZ</a:t>
            </a:r>
          </a:p>
        </p:txBody>
      </p:sp>
      <p:sp>
        <p:nvSpPr>
          <p:cNvPr id="36" name="Rounded Rectangle 35"/>
          <p:cNvSpPr/>
          <p:nvPr/>
        </p:nvSpPr>
        <p:spPr>
          <a:xfrm>
            <a:off x="6720840" y="3008376"/>
            <a:ext cx="2519172" cy="329184"/>
          </a:xfrm>
          <a:prstGeom prst="roundRect">
            <a:avLst>
              <a:gd name="adj" fmla="val 50000"/>
            </a:avLst>
          </a:prstGeom>
          <a:solidFill>
            <a:srgbClr val="FD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812280" y="3140964"/>
            <a:ext cx="64008" cy="64008"/>
          </a:xfrm>
          <a:prstGeom prst="ellipse">
            <a:avLst/>
          </a:prstGeom>
          <a:solidFill>
            <a:srgbClr val="EC8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0296" y="3008376"/>
            <a:ext cx="2281428" cy="329184"/>
          </a:xfrm>
          <a:prstGeom prst="rect">
            <a:avLst/>
          </a:prstGeom>
          <a:noFill/>
        </p:spPr>
        <p:txBody>
          <a:bodyPr wrap="none" anchor="ctr">
            <a:spAutoFit/>
          </a:bodyPr>
          <a:lstStyle/>
          <a:p>
            <a:r>
              <a:rPr sz="950" b="1" i="0">
                <a:solidFill>
                  <a:srgbClr val="A1441F"/>
                </a:solidFill>
                <a:latin typeface="Segoe UI"/>
              </a:rPr>
              <a:t>HH4B (trained target)</a:t>
            </a:r>
          </a:p>
        </p:txBody>
      </p:sp>
      <p:sp>
        <p:nvSpPr>
          <p:cNvPr id="39" name="Rounded Rectangle 38"/>
          <p:cNvSpPr/>
          <p:nvPr/>
        </p:nvSpPr>
        <p:spPr>
          <a:xfrm>
            <a:off x="6537960" y="4023360"/>
            <a:ext cx="5166360" cy="1691640"/>
          </a:xfrm>
          <a:prstGeom prst="roundRect">
            <a:avLst>
              <a:gd name="adj" fmla="val 6000"/>
            </a:avLst>
          </a:prstGeom>
          <a:solidFill>
            <a:srgbClr val="FFFFFF"/>
          </a:solidFill>
          <a:ln w="9525">
            <a:solidFill>
              <a:srgbClr val="D8D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20840" y="4160520"/>
            <a:ext cx="4754880" cy="237744"/>
          </a:xfrm>
          <a:prstGeom prst="rect">
            <a:avLst/>
          </a:prstGeom>
          <a:noFill/>
        </p:spPr>
        <p:txBody>
          <a:bodyPr wrap="square">
            <a:spAutoFit/>
          </a:bodyPr>
          <a:lstStyle/>
          <a:p>
            <a:pPr algn="l"/>
            <a:r>
              <a:rPr sz="950" b="1" i="0" spc="90">
                <a:solidFill>
                  <a:srgbClr val="898781"/>
                </a:solidFill>
                <a:latin typeface="Segoe UI"/>
              </a:rPr>
              <a:t>EXTERNAL HIGGS SIGNALS TESTED</a:t>
            </a:r>
          </a:p>
        </p:txBody>
      </p:sp>
      <p:sp>
        <p:nvSpPr>
          <p:cNvPr id="41" name="Rounded Rectangle 40"/>
          <p:cNvSpPr/>
          <p:nvPr/>
        </p:nvSpPr>
        <p:spPr>
          <a:xfrm>
            <a:off x="6720840" y="4480560"/>
            <a:ext cx="1751076" cy="329184"/>
          </a:xfrm>
          <a:prstGeom prst="roundRect">
            <a:avLst>
              <a:gd name="adj" fmla="val 50000"/>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812280" y="4613148"/>
            <a:ext cx="64008" cy="64008"/>
          </a:xfrm>
          <a:prstGeom prst="ellipse">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0296" y="4480560"/>
            <a:ext cx="1513332" cy="329184"/>
          </a:xfrm>
          <a:prstGeom prst="rect">
            <a:avLst/>
          </a:prstGeom>
          <a:noFill/>
        </p:spPr>
        <p:txBody>
          <a:bodyPr wrap="none" anchor="ctr">
            <a:spAutoFit/>
          </a:bodyPr>
          <a:lstStyle/>
          <a:p>
            <a:r>
              <a:rPr sz="950" b="1" i="0">
                <a:solidFill>
                  <a:srgbClr val="52514E"/>
                </a:solidFill>
                <a:latin typeface="Segoe UI"/>
              </a:rPr>
              <a:t>HH (external)</a:t>
            </a:r>
          </a:p>
        </p:txBody>
      </p:sp>
      <p:sp>
        <p:nvSpPr>
          <p:cNvPr id="44" name="Rounded Rectangle 43"/>
          <p:cNvSpPr/>
          <p:nvPr/>
        </p:nvSpPr>
        <p:spPr>
          <a:xfrm>
            <a:off x="8581644" y="4480560"/>
            <a:ext cx="1943100" cy="329184"/>
          </a:xfrm>
          <a:prstGeom prst="roundRect">
            <a:avLst>
              <a:gd name="adj" fmla="val 50000"/>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673084" y="4613148"/>
            <a:ext cx="64008" cy="64008"/>
          </a:xfrm>
          <a:prstGeom prst="ellipse">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01100" y="4480560"/>
            <a:ext cx="1705356" cy="329184"/>
          </a:xfrm>
          <a:prstGeom prst="rect">
            <a:avLst/>
          </a:prstGeom>
          <a:noFill/>
        </p:spPr>
        <p:txBody>
          <a:bodyPr wrap="none" anchor="ctr">
            <a:spAutoFit/>
          </a:bodyPr>
          <a:lstStyle/>
          <a:p>
            <a:r>
              <a:rPr sz="950" b="1" i="0">
                <a:solidFill>
                  <a:srgbClr val="52514E"/>
                </a:solidFill>
                <a:latin typeface="Segoe UI"/>
              </a:rPr>
              <a:t>VBFH (external)</a:t>
            </a:r>
          </a:p>
        </p:txBody>
      </p:sp>
      <p:sp>
        <p:nvSpPr>
          <p:cNvPr id="47" name="Rounded Rectangle 46"/>
          <p:cNvSpPr/>
          <p:nvPr/>
        </p:nvSpPr>
        <p:spPr>
          <a:xfrm>
            <a:off x="6720840" y="4910328"/>
            <a:ext cx="1847088" cy="329184"/>
          </a:xfrm>
          <a:prstGeom prst="roundRect">
            <a:avLst>
              <a:gd name="adj" fmla="val 50000"/>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812280" y="5042916"/>
            <a:ext cx="64008" cy="64008"/>
          </a:xfrm>
          <a:prstGeom prst="ellipse">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40296" y="4910328"/>
            <a:ext cx="1609344" cy="329184"/>
          </a:xfrm>
          <a:prstGeom prst="rect">
            <a:avLst/>
          </a:prstGeom>
          <a:noFill/>
        </p:spPr>
        <p:txBody>
          <a:bodyPr wrap="none" anchor="ctr">
            <a:spAutoFit/>
          </a:bodyPr>
          <a:lstStyle/>
          <a:p>
            <a:r>
              <a:rPr sz="950" b="1" i="0">
                <a:solidFill>
                  <a:srgbClr val="52514E"/>
                </a:solidFill>
                <a:latin typeface="Segoe UI"/>
              </a:rPr>
              <a:t>ggH (external)</a:t>
            </a:r>
          </a:p>
        </p:txBody>
      </p:sp>
      <p:sp>
        <p:nvSpPr>
          <p:cNvPr id="50" name="Rounded Rectangle 49"/>
          <p:cNvSpPr/>
          <p:nvPr/>
        </p:nvSpPr>
        <p:spPr>
          <a:xfrm>
            <a:off x="8677656" y="4910328"/>
            <a:ext cx="2807208" cy="329184"/>
          </a:xfrm>
          <a:prstGeom prst="roundRect">
            <a:avLst>
              <a:gd name="adj" fmla="val 50000"/>
            </a:avLst>
          </a:prstGeom>
          <a:solidFill>
            <a:srgbClr val="FD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769096" y="5042916"/>
            <a:ext cx="64008" cy="64008"/>
          </a:xfrm>
          <a:prstGeom prst="ellipse">
            <a:avLst/>
          </a:prstGeom>
          <a:solidFill>
            <a:srgbClr val="EC8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897112" y="4910328"/>
            <a:ext cx="2569464" cy="329184"/>
          </a:xfrm>
          <a:prstGeom prst="rect">
            <a:avLst/>
          </a:prstGeom>
          <a:noFill/>
        </p:spPr>
        <p:txBody>
          <a:bodyPr wrap="none" anchor="ctr">
            <a:spAutoFit/>
          </a:bodyPr>
          <a:lstStyle/>
          <a:p>
            <a:r>
              <a:rPr sz="950" b="1" i="0">
                <a:solidFill>
                  <a:srgbClr val="A1441F"/>
                </a:solidFill>
                <a:latin typeface="Segoe UI"/>
              </a:rPr>
              <a:t>HH4B (trained reference)</a:t>
            </a:r>
          </a:p>
        </p:txBody>
      </p:sp>
      <p:sp>
        <p:nvSpPr>
          <p:cNvPr id="53" name="TextBox 52"/>
          <p:cNvSpPr txBox="1"/>
          <p:nvPr/>
        </p:nvSpPr>
        <p:spPr>
          <a:xfrm>
            <a:off x="6720840" y="5349240"/>
            <a:ext cx="4800600" cy="320040"/>
          </a:xfrm>
          <a:prstGeom prst="rect">
            <a:avLst/>
          </a:prstGeom>
          <a:noFill/>
        </p:spPr>
        <p:txBody>
          <a:bodyPr wrap="square">
            <a:spAutoFit/>
          </a:bodyPr>
          <a:lstStyle/>
          <a:p>
            <a:pPr algn="l"/>
            <a:r>
              <a:rPr sz="1000" b="0" i="1">
                <a:solidFill>
                  <a:srgbClr val="898781"/>
                </a:solidFill>
                <a:latin typeface="Segoe UI"/>
              </a:rPr>
              <a:t>Never used in training — mapped into the 10 trained classes above.</a:t>
            </a:r>
          </a:p>
        </p:txBody>
      </p:sp>
      <p:sp>
        <p:nvSpPr>
          <p:cNvPr id="54" name="Oval 53"/>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350611"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SIX 10-CLASS MODEL CONFIGURATIONS</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03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Objective choice, not just capacity, drives the spread</a:t>
            </a:r>
          </a:p>
        </p:txBody>
      </p:sp>
      <p:sp>
        <p:nvSpPr>
          <p:cNvPr id="6" name="TextBox 5"/>
          <p:cNvSpPr txBox="1"/>
          <p:nvPr/>
        </p:nvSpPr>
        <p:spPr>
          <a:xfrm>
            <a:off x="457200" y="1088136"/>
            <a:ext cx="11292840" cy="320040"/>
          </a:xfrm>
          <a:prstGeom prst="rect">
            <a:avLst/>
          </a:prstGeom>
          <a:noFill/>
        </p:spPr>
        <p:txBody>
          <a:bodyPr wrap="square">
            <a:spAutoFit/>
          </a:bodyPr>
          <a:lstStyle/>
          <a:p>
            <a:pPr algn="l"/>
            <a:r>
              <a:rPr sz="1200" b="0" i="0">
                <a:solidFill>
                  <a:srgbClr val="52514E"/>
                </a:solidFill>
                <a:latin typeface="Segoe UI"/>
              </a:rPr>
              <a:t>All at latent_dim=64, ff_dim=128, heads=8, 2 blocks, mean pooling, linear head, 100k events/class</a:t>
            </a:r>
          </a:p>
        </p:txBody>
      </p:sp>
      <p:graphicFrame>
        <p:nvGraphicFramePr>
          <p:cNvPr id="7" name="Table 6"/>
          <p:cNvGraphicFramePr>
            <a:graphicFrameLocks noGrp="1"/>
          </p:cNvGraphicFramePr>
          <p:nvPr/>
        </p:nvGraphicFramePr>
        <p:xfrm>
          <a:off x="457200" y="1600200"/>
          <a:ext cx="11292840" cy="2697480"/>
        </p:xfrm>
        <a:graphic>
          <a:graphicData uri="http://schemas.openxmlformats.org/drawingml/2006/table">
            <a:tbl>
              <a:tblPr>
                <a:tableStyleId>{5C22544A-7EE6-4342-B048-85BDC9FD1C3A}</a:tableStyleId>
              </a:tblPr>
              <a:tblGrid>
                <a:gridCol w="3017520"/>
                <a:gridCol w="1371600"/>
                <a:gridCol w="1371600"/>
                <a:gridCol w="1371600"/>
                <a:gridCol w="1417320"/>
                <a:gridCol w="1280160"/>
                <a:gridCol w="1463040"/>
              </a:tblGrid>
              <a:tr h="385354">
                <a:tc>
                  <a:txBody>
                    <a:bodyPr wrap="square"/>
                    <a:lstStyle/>
                    <a:p>
                      <a:pPr algn="l"/>
                      <a:r>
                        <a:rPr sz="850" b="1" i="0" spc="40">
                          <a:solidFill>
                            <a:srgbClr val="898781"/>
                          </a:solidFill>
                          <a:latin typeface="Segoe UI"/>
                        </a:rPr>
                        <a:t>CONFIGURATION</a:t>
                      </a:r>
                    </a:p>
                  </a:txBody>
                  <a:tcPr marT="25400" marB="25400">
                    <a:solidFill>
                      <a:srgbClr val="FCFCFB"/>
                    </a:solidFill>
                  </a:tcPr>
                </a:tc>
                <a:tc>
                  <a:txBody>
                    <a:bodyPr wrap="square"/>
                    <a:lstStyle/>
                    <a:p>
                      <a:pPr algn="r"/>
                      <a:r>
                        <a:rPr sz="850" b="1" i="0" spc="40">
                          <a:solidFill>
                            <a:srgbClr val="898781"/>
                          </a:solidFill>
                          <a:latin typeface="Segoe UI"/>
                        </a:rPr>
                        <a:t>ACCURACY</a:t>
                      </a:r>
                    </a:p>
                  </a:txBody>
                  <a:tcPr marT="25400" marB="25400">
                    <a:solidFill>
                      <a:srgbClr val="FCFCFB"/>
                    </a:solidFill>
                  </a:tcPr>
                </a:tc>
                <a:tc>
                  <a:txBody>
                    <a:bodyPr wrap="square"/>
                    <a:lstStyle/>
                    <a:p>
                      <a:pPr algn="r"/>
                      <a:r>
                        <a:rPr sz="850" b="1" i="0" spc="40">
                          <a:solidFill>
                            <a:srgbClr val="898781"/>
                          </a:solidFill>
                          <a:latin typeface="Segoe UI"/>
                        </a:rPr>
                        <a:t>MACRO F1</a:t>
                      </a:r>
                    </a:p>
                  </a:txBody>
                  <a:tcPr marT="25400" marB="25400">
                    <a:solidFill>
                      <a:srgbClr val="FCFCFB"/>
                    </a:solidFill>
                  </a:tcPr>
                </a:tc>
                <a:tc>
                  <a:txBody>
                    <a:bodyPr wrap="square"/>
                    <a:lstStyle/>
                    <a:p>
                      <a:pPr algn="r"/>
                      <a:r>
                        <a:rPr sz="850" b="1" i="0" spc="40">
                          <a:solidFill>
                            <a:srgbClr val="898781"/>
                          </a:solidFill>
                          <a:latin typeface="Segoe UI"/>
                        </a:rPr>
                        <a:t>HH4B F1</a:t>
                      </a:r>
                    </a:p>
                  </a:txBody>
                  <a:tcPr marT="25400" marB="25400">
                    <a:solidFill>
                      <a:srgbClr val="FCFCFB"/>
                    </a:solidFill>
                  </a:tcPr>
                </a:tc>
                <a:tc>
                  <a:txBody>
                    <a:bodyPr wrap="square"/>
                    <a:lstStyle/>
                    <a:p>
                      <a:pPr algn="r"/>
                      <a:r>
                        <a:rPr sz="850" b="1" i="0" spc="40">
                          <a:solidFill>
                            <a:srgbClr val="898781"/>
                          </a:solidFill>
                          <a:latin typeface="Segoe UI"/>
                        </a:rPr>
                        <a:t>EVAL-QUALITY</a:t>
                      </a:r>
                    </a:p>
                  </a:txBody>
                  <a:tcPr marT="25400" marB="25400">
                    <a:solidFill>
                      <a:srgbClr val="FCFCFB"/>
                    </a:solidFill>
                  </a:tcPr>
                </a:tc>
                <a:tc>
                  <a:txBody>
                    <a:bodyPr wrap="square"/>
                    <a:lstStyle/>
                    <a:p>
                      <a:pPr algn="r"/>
                      <a:r>
                        <a:rPr sz="850" b="1" i="0" spc="40">
                          <a:solidFill>
                            <a:srgbClr val="898781"/>
                          </a:solidFill>
                          <a:latin typeface="Segoe UI"/>
                        </a:rPr>
                        <a:t>EFF. RANK</a:t>
                      </a:r>
                    </a:p>
                  </a:txBody>
                  <a:tcPr marT="25400" marB="25400">
                    <a:solidFill>
                      <a:srgbClr val="FCFCFB"/>
                    </a:solidFill>
                  </a:tcPr>
                </a:tc>
                <a:tc>
                  <a:txBody>
                    <a:bodyPr wrap="square"/>
                    <a:lstStyle/>
                    <a:p>
                      <a:pPr algn="r"/>
                      <a:r>
                        <a:rPr sz="850" b="1" i="0" spc="40">
                          <a:solidFill>
                            <a:srgbClr val="898781"/>
                          </a:solidFill>
                          <a:latin typeface="Segoe UI"/>
                        </a:rPr>
                        <a:t>HEAD-FISHER RANK</a:t>
                      </a:r>
                    </a:p>
                  </a:txBody>
                  <a:tcPr marT="25400" marB="25400">
                    <a:solidFill>
                      <a:srgbClr val="FCFCFB"/>
                    </a:solidFill>
                  </a:tcPr>
                </a:tc>
              </a:tr>
              <a:tr h="385354">
                <a:tc>
                  <a:txBody>
                    <a:bodyPr wrap="square"/>
                    <a:lstStyle/>
                    <a:p>
                      <a:pPr algn="l"/>
                      <a:r>
                        <a:rPr sz="1050" b="0" i="0">
                          <a:solidFill>
                            <a:srgbClr val="0B0B0B"/>
                          </a:solidFill>
                          <a:latin typeface="Segoe UI"/>
                        </a:rPr>
                        <a:t>Label smoothing 0.05 + var</a:t>
                      </a:r>
                    </a:p>
                  </a:txBody>
                  <a:tcPr marT="19050" marB="19050">
                    <a:solidFill>
                      <a:srgbClr val="FFFFFF"/>
                    </a:solidFill>
                  </a:tcPr>
                </a:tc>
                <a:tc>
                  <a:txBody>
                    <a:bodyPr wrap="square"/>
                    <a:lstStyle/>
                    <a:p>
                      <a:pPr algn="r"/>
                      <a:r>
                        <a:rPr sz="1050" b="0" i="0">
                          <a:solidFill>
                            <a:srgbClr val="0B0B0B"/>
                          </a:solidFill>
                          <a:latin typeface="Consolas"/>
                        </a:rPr>
                        <a:t>0.4747</a:t>
                      </a:r>
                    </a:p>
                  </a:txBody>
                  <a:tcPr marT="19050" marB="19050">
                    <a:solidFill>
                      <a:srgbClr val="FFFFFF"/>
                    </a:solidFill>
                  </a:tcPr>
                </a:tc>
                <a:tc>
                  <a:txBody>
                    <a:bodyPr wrap="square"/>
                    <a:lstStyle/>
                    <a:p>
                      <a:pPr algn="r"/>
                      <a:r>
                        <a:rPr sz="1050" b="0" i="0">
                          <a:solidFill>
                            <a:srgbClr val="0B0B0B"/>
                          </a:solidFill>
                          <a:latin typeface="Consolas"/>
                        </a:rPr>
                        <a:t>0.4677</a:t>
                      </a:r>
                    </a:p>
                  </a:txBody>
                  <a:tcPr marT="19050" marB="19050">
                    <a:solidFill>
                      <a:srgbClr val="FFFFFF"/>
                    </a:solidFill>
                  </a:tcPr>
                </a:tc>
                <a:tc>
                  <a:txBody>
                    <a:bodyPr wrap="square"/>
                    <a:lstStyle/>
                    <a:p>
                      <a:pPr algn="r"/>
                      <a:r>
                        <a:rPr sz="1050" b="0" i="0">
                          <a:solidFill>
                            <a:srgbClr val="0B0B0B"/>
                          </a:solidFill>
                          <a:latin typeface="Consolas"/>
                        </a:rPr>
                        <a:t>0.5613</a:t>
                      </a:r>
                    </a:p>
                  </a:txBody>
                  <a:tcPr marT="19050" marB="19050">
                    <a:solidFill>
                      <a:srgbClr val="FFFFFF"/>
                    </a:solidFill>
                  </a:tcPr>
                </a:tc>
                <a:tc>
                  <a:txBody>
                    <a:bodyPr wrap="square"/>
                    <a:lstStyle/>
                    <a:p>
                      <a:pPr algn="r"/>
                      <a:r>
                        <a:rPr sz="1050" b="0" i="0">
                          <a:solidFill>
                            <a:srgbClr val="0B0B0B"/>
                          </a:solidFill>
                          <a:latin typeface="Consolas"/>
                        </a:rPr>
                        <a:t>0.00004</a:t>
                      </a:r>
                    </a:p>
                  </a:txBody>
                  <a:tcPr marT="19050" marB="19050">
                    <a:solidFill>
                      <a:srgbClr val="FFFFFF"/>
                    </a:solidFill>
                  </a:tcPr>
                </a:tc>
                <a:tc>
                  <a:txBody>
                    <a:bodyPr wrap="square"/>
                    <a:lstStyle/>
                    <a:p>
                      <a:pPr algn="r"/>
                      <a:r>
                        <a:rPr sz="1050" b="0" i="0">
                          <a:solidFill>
                            <a:srgbClr val="0B0B0B"/>
                          </a:solidFill>
                          <a:latin typeface="Consolas"/>
                        </a:rPr>
                        <a:t>11.17</a:t>
                      </a:r>
                    </a:p>
                  </a:txBody>
                  <a:tcPr marT="19050" marB="19050">
                    <a:solidFill>
                      <a:srgbClr val="FFFFFF"/>
                    </a:solidFill>
                  </a:tcPr>
                </a:tc>
                <a:tc>
                  <a:txBody>
                    <a:bodyPr wrap="square"/>
                    <a:lstStyle/>
                    <a:p>
                      <a:pPr algn="r"/>
                      <a:r>
                        <a:rPr sz="1050" b="0" i="0">
                          <a:solidFill>
                            <a:srgbClr val="0B0B0B"/>
                          </a:solidFill>
                          <a:latin typeface="Consolas"/>
                        </a:rPr>
                        <a:t>79.63</a:t>
                      </a:r>
                    </a:p>
                  </a:txBody>
                  <a:tcPr marT="19050" marB="19050">
                    <a:solidFill>
                      <a:srgbClr val="FFFFFF"/>
                    </a:solidFill>
                  </a:tcPr>
                </a:tc>
              </a:tr>
              <a:tr h="385354">
                <a:tc>
                  <a:txBody>
                    <a:bodyPr wrap="square"/>
                    <a:lstStyle/>
                    <a:p>
                      <a:pPr algn="l"/>
                      <a:r>
                        <a:rPr sz="1050" b="0" i="0">
                          <a:solidFill>
                            <a:srgbClr val="0B0B0B"/>
                          </a:solidFill>
                          <a:latin typeface="Segoe UI"/>
                        </a:rPr>
                        <a:t>Focal γ=2 + var</a:t>
                      </a:r>
                    </a:p>
                  </a:txBody>
                  <a:tcPr marT="19050" marB="19050">
                    <a:solidFill>
                      <a:srgbClr val="FFFFFF"/>
                    </a:solidFill>
                  </a:tcPr>
                </a:tc>
                <a:tc>
                  <a:txBody>
                    <a:bodyPr wrap="square"/>
                    <a:lstStyle/>
                    <a:p>
                      <a:pPr algn="r"/>
                      <a:r>
                        <a:rPr sz="1050" b="0" i="0">
                          <a:solidFill>
                            <a:srgbClr val="0B0B0B"/>
                          </a:solidFill>
                          <a:latin typeface="Consolas"/>
                        </a:rPr>
                        <a:t>0.4600</a:t>
                      </a:r>
                    </a:p>
                  </a:txBody>
                  <a:tcPr marT="19050" marB="19050">
                    <a:solidFill>
                      <a:srgbClr val="FFFFFF"/>
                    </a:solidFill>
                  </a:tcPr>
                </a:tc>
                <a:tc>
                  <a:txBody>
                    <a:bodyPr wrap="square"/>
                    <a:lstStyle/>
                    <a:p>
                      <a:pPr algn="r"/>
                      <a:r>
                        <a:rPr sz="1050" b="0" i="0">
                          <a:solidFill>
                            <a:srgbClr val="0B0B0B"/>
                          </a:solidFill>
                          <a:latin typeface="Consolas"/>
                        </a:rPr>
                        <a:t>0.4543</a:t>
                      </a:r>
                    </a:p>
                  </a:txBody>
                  <a:tcPr marT="19050" marB="19050">
                    <a:solidFill>
                      <a:srgbClr val="FFFFFF"/>
                    </a:solidFill>
                  </a:tcPr>
                </a:tc>
                <a:tc>
                  <a:txBody>
                    <a:bodyPr wrap="square"/>
                    <a:lstStyle/>
                    <a:p>
                      <a:pPr algn="r"/>
                      <a:r>
                        <a:rPr sz="1050" b="0" i="0">
                          <a:solidFill>
                            <a:srgbClr val="0B0B0B"/>
                          </a:solidFill>
                          <a:latin typeface="Consolas"/>
                        </a:rPr>
                        <a:t>0.5567</a:t>
                      </a:r>
                    </a:p>
                  </a:txBody>
                  <a:tcPr marT="19050" marB="19050">
                    <a:solidFill>
                      <a:srgbClr val="FFFFFF"/>
                    </a:solidFill>
                  </a:tcPr>
                </a:tc>
                <a:tc>
                  <a:txBody>
                    <a:bodyPr wrap="square"/>
                    <a:lstStyle/>
                    <a:p>
                      <a:pPr algn="r"/>
                      <a:r>
                        <a:rPr sz="1050" b="0" i="0">
                          <a:solidFill>
                            <a:srgbClr val="0B0B0B"/>
                          </a:solidFill>
                          <a:latin typeface="Consolas"/>
                        </a:rPr>
                        <a:t>0.1476</a:t>
                      </a:r>
                    </a:p>
                  </a:txBody>
                  <a:tcPr marT="19050" marB="19050">
                    <a:solidFill>
                      <a:srgbClr val="FFFFFF"/>
                    </a:solidFill>
                  </a:tcPr>
                </a:tc>
                <a:tc>
                  <a:txBody>
                    <a:bodyPr wrap="square"/>
                    <a:lstStyle/>
                    <a:p>
                      <a:pPr algn="r"/>
                      <a:r>
                        <a:rPr sz="1050" b="0" i="0">
                          <a:solidFill>
                            <a:srgbClr val="0B0B0B"/>
                          </a:solidFill>
                          <a:latin typeface="Consolas"/>
                        </a:rPr>
                        <a:t>8.08</a:t>
                      </a:r>
                    </a:p>
                  </a:txBody>
                  <a:tcPr marT="19050" marB="19050">
                    <a:solidFill>
                      <a:srgbClr val="FFFFFF"/>
                    </a:solidFill>
                  </a:tcPr>
                </a:tc>
                <a:tc>
                  <a:txBody>
                    <a:bodyPr wrap="square"/>
                    <a:lstStyle/>
                    <a:p>
                      <a:pPr algn="r"/>
                      <a:r>
                        <a:rPr sz="1050" b="0" i="0">
                          <a:solidFill>
                            <a:srgbClr val="0B0B0B"/>
                          </a:solidFill>
                          <a:latin typeface="Consolas"/>
                        </a:rPr>
                        <a:t>51.63</a:t>
                      </a:r>
                    </a:p>
                  </a:txBody>
                  <a:tcPr marT="19050" marB="19050">
                    <a:solidFill>
                      <a:srgbClr val="FFFFFF"/>
                    </a:solidFill>
                  </a:tcPr>
                </a:tc>
              </a:tr>
              <a:tr h="385354">
                <a:tc>
                  <a:txBody>
                    <a:bodyPr wrap="square"/>
                    <a:lstStyle/>
                    <a:p>
                      <a:pPr algn="l"/>
                      <a:r>
                        <a:rPr sz="1050" b="1" i="0">
                          <a:solidFill>
                            <a:srgbClr val="0B0B0B"/>
                          </a:solidFill>
                          <a:latin typeface="Segoe UI"/>
                        </a:rPr>
                        <a:t>CE + SupCon 0.05 + var  ★ balanced</a:t>
                      </a:r>
                    </a:p>
                  </a:txBody>
                  <a:tcPr marT="19050" marB="19050">
                    <a:solidFill>
                      <a:srgbClr val="E6F6E6"/>
                    </a:solidFill>
                  </a:tcPr>
                </a:tc>
                <a:tc>
                  <a:txBody>
                    <a:bodyPr wrap="square"/>
                    <a:lstStyle/>
                    <a:p>
                      <a:pPr algn="r"/>
                      <a:r>
                        <a:rPr sz="1050" b="1" i="0">
                          <a:solidFill>
                            <a:srgbClr val="0B0B0B"/>
                          </a:solidFill>
                          <a:latin typeface="Consolas"/>
                        </a:rPr>
                        <a:t>0.4602</a:t>
                      </a:r>
                    </a:p>
                  </a:txBody>
                  <a:tcPr marT="19050" marB="19050">
                    <a:solidFill>
                      <a:srgbClr val="E6F6E6"/>
                    </a:solidFill>
                  </a:tcPr>
                </a:tc>
                <a:tc>
                  <a:txBody>
                    <a:bodyPr wrap="square"/>
                    <a:lstStyle/>
                    <a:p>
                      <a:pPr algn="r"/>
                      <a:r>
                        <a:rPr sz="1050" b="1" i="0">
                          <a:solidFill>
                            <a:srgbClr val="0B0B0B"/>
                          </a:solidFill>
                          <a:latin typeface="Consolas"/>
                        </a:rPr>
                        <a:t>0.4560</a:t>
                      </a:r>
                    </a:p>
                  </a:txBody>
                  <a:tcPr marT="19050" marB="19050">
                    <a:solidFill>
                      <a:srgbClr val="E6F6E6"/>
                    </a:solidFill>
                  </a:tcPr>
                </a:tc>
                <a:tc>
                  <a:txBody>
                    <a:bodyPr wrap="square"/>
                    <a:lstStyle/>
                    <a:p>
                      <a:pPr algn="r"/>
                      <a:r>
                        <a:rPr sz="1050" b="1" i="0">
                          <a:solidFill>
                            <a:srgbClr val="0B0B0B"/>
                          </a:solidFill>
                          <a:latin typeface="Consolas"/>
                        </a:rPr>
                        <a:t>0.5612</a:t>
                      </a:r>
                    </a:p>
                  </a:txBody>
                  <a:tcPr marT="19050" marB="19050">
                    <a:solidFill>
                      <a:srgbClr val="E6F6E6"/>
                    </a:solidFill>
                  </a:tcPr>
                </a:tc>
                <a:tc>
                  <a:txBody>
                    <a:bodyPr wrap="square"/>
                    <a:lstStyle/>
                    <a:p>
                      <a:pPr algn="r"/>
                      <a:r>
                        <a:rPr sz="1050" b="1" i="0">
                          <a:solidFill>
                            <a:srgbClr val="0B0B0B"/>
                          </a:solidFill>
                          <a:latin typeface="Consolas"/>
                        </a:rPr>
                        <a:t>0.2207</a:t>
                      </a:r>
                    </a:p>
                  </a:txBody>
                  <a:tcPr marT="19050" marB="19050">
                    <a:solidFill>
                      <a:srgbClr val="E6F6E6"/>
                    </a:solidFill>
                  </a:tcPr>
                </a:tc>
                <a:tc>
                  <a:txBody>
                    <a:bodyPr wrap="square"/>
                    <a:lstStyle/>
                    <a:p>
                      <a:pPr algn="r"/>
                      <a:r>
                        <a:rPr sz="1050" b="1" i="0">
                          <a:solidFill>
                            <a:srgbClr val="0B0B0B"/>
                          </a:solidFill>
                          <a:latin typeface="Consolas"/>
                        </a:rPr>
                        <a:t>2.84</a:t>
                      </a:r>
                    </a:p>
                  </a:txBody>
                  <a:tcPr marT="19050" marB="19050">
                    <a:solidFill>
                      <a:srgbClr val="E6F6E6"/>
                    </a:solidFill>
                  </a:tcPr>
                </a:tc>
                <a:tc>
                  <a:txBody>
                    <a:bodyPr wrap="square"/>
                    <a:lstStyle/>
                    <a:p>
                      <a:pPr algn="r"/>
                      <a:r>
                        <a:rPr sz="1050" b="1" i="0">
                          <a:solidFill>
                            <a:srgbClr val="0B0B0B"/>
                          </a:solidFill>
                          <a:latin typeface="Consolas"/>
                        </a:rPr>
                        <a:t>23.87</a:t>
                      </a:r>
                    </a:p>
                  </a:txBody>
                  <a:tcPr marT="19050" marB="19050">
                    <a:solidFill>
                      <a:srgbClr val="E6F6E6"/>
                    </a:solidFill>
                  </a:tcPr>
                </a:tc>
              </a:tr>
              <a:tr h="385354">
                <a:tc>
                  <a:txBody>
                    <a:bodyPr wrap="square"/>
                    <a:lstStyle/>
                    <a:p>
                      <a:pPr algn="l"/>
                      <a:r>
                        <a:rPr sz="1050" b="1" i="0">
                          <a:solidFill>
                            <a:srgbClr val="0B0B0B"/>
                          </a:solidFill>
                          <a:latin typeface="Segoe UI"/>
                        </a:rPr>
                        <a:t>CE + var + Cov 0.001  ★ anomaly-oriented</a:t>
                      </a:r>
                    </a:p>
                  </a:txBody>
                  <a:tcPr marT="19050" marB="19050">
                    <a:solidFill>
                      <a:srgbClr val="E7F0FB"/>
                    </a:solidFill>
                  </a:tcPr>
                </a:tc>
                <a:tc>
                  <a:txBody>
                    <a:bodyPr wrap="square"/>
                    <a:lstStyle/>
                    <a:p>
                      <a:pPr algn="r"/>
                      <a:r>
                        <a:rPr sz="1050" b="1" i="0">
                          <a:solidFill>
                            <a:srgbClr val="0B0B0B"/>
                          </a:solidFill>
                          <a:latin typeface="Consolas"/>
                        </a:rPr>
                        <a:t>0.4556</a:t>
                      </a:r>
                    </a:p>
                  </a:txBody>
                  <a:tcPr marT="19050" marB="19050">
                    <a:solidFill>
                      <a:srgbClr val="E7F0FB"/>
                    </a:solidFill>
                  </a:tcPr>
                </a:tc>
                <a:tc>
                  <a:txBody>
                    <a:bodyPr wrap="square"/>
                    <a:lstStyle/>
                    <a:p>
                      <a:pPr algn="r"/>
                      <a:r>
                        <a:rPr sz="1050" b="1" i="0">
                          <a:solidFill>
                            <a:srgbClr val="0B0B0B"/>
                          </a:solidFill>
                          <a:latin typeface="Consolas"/>
                        </a:rPr>
                        <a:t>0.4468</a:t>
                      </a:r>
                    </a:p>
                  </a:txBody>
                  <a:tcPr marT="19050" marB="19050">
                    <a:solidFill>
                      <a:srgbClr val="E7F0FB"/>
                    </a:solidFill>
                  </a:tcPr>
                </a:tc>
                <a:tc>
                  <a:txBody>
                    <a:bodyPr wrap="square"/>
                    <a:lstStyle/>
                    <a:p>
                      <a:pPr algn="r"/>
                      <a:r>
                        <a:rPr sz="1050" b="1" i="0">
                          <a:solidFill>
                            <a:srgbClr val="0B0B0B"/>
                          </a:solidFill>
                          <a:latin typeface="Consolas"/>
                        </a:rPr>
                        <a:t>0.5566</a:t>
                      </a:r>
                    </a:p>
                  </a:txBody>
                  <a:tcPr marT="19050" marB="19050">
                    <a:solidFill>
                      <a:srgbClr val="E7F0FB"/>
                    </a:solidFill>
                  </a:tcPr>
                </a:tc>
                <a:tc>
                  <a:txBody>
                    <a:bodyPr wrap="square"/>
                    <a:lstStyle/>
                    <a:p>
                      <a:pPr algn="r"/>
                      <a:r>
                        <a:rPr sz="1050" b="1" i="0">
                          <a:solidFill>
                            <a:srgbClr val="0B0B0B"/>
                          </a:solidFill>
                          <a:latin typeface="Consolas"/>
                        </a:rPr>
                        <a:t>0.2294</a:t>
                      </a:r>
                    </a:p>
                  </a:txBody>
                  <a:tcPr marT="19050" marB="19050">
                    <a:solidFill>
                      <a:srgbClr val="E7F0FB"/>
                    </a:solidFill>
                  </a:tcPr>
                </a:tc>
                <a:tc>
                  <a:txBody>
                    <a:bodyPr wrap="square"/>
                    <a:lstStyle/>
                    <a:p>
                      <a:pPr algn="r"/>
                      <a:r>
                        <a:rPr sz="1050" b="1" i="0">
                          <a:solidFill>
                            <a:srgbClr val="0B0B0B"/>
                          </a:solidFill>
                          <a:latin typeface="Consolas"/>
                        </a:rPr>
                        <a:t>29.12</a:t>
                      </a:r>
                    </a:p>
                  </a:txBody>
                  <a:tcPr marT="19050" marB="19050">
                    <a:solidFill>
                      <a:srgbClr val="E7F0FB"/>
                    </a:solidFill>
                  </a:tcPr>
                </a:tc>
                <a:tc>
                  <a:txBody>
                    <a:bodyPr wrap="square"/>
                    <a:lstStyle/>
                    <a:p>
                      <a:pPr algn="r"/>
                      <a:r>
                        <a:rPr sz="1050" b="1" i="0">
                          <a:solidFill>
                            <a:srgbClr val="0B0B0B"/>
                          </a:solidFill>
                          <a:latin typeface="Consolas"/>
                        </a:rPr>
                        <a:t>445.55</a:t>
                      </a:r>
                    </a:p>
                  </a:txBody>
                  <a:tcPr marT="19050" marB="19050">
                    <a:solidFill>
                      <a:srgbClr val="E7F0FB"/>
                    </a:solidFill>
                  </a:tcPr>
                </a:tc>
              </a:tr>
              <a:tr h="385354">
                <a:tc>
                  <a:txBody>
                    <a:bodyPr wrap="square"/>
                    <a:lstStyle/>
                    <a:p>
                      <a:pPr algn="l"/>
                      <a:r>
                        <a:rPr sz="1050" b="0" i="0">
                          <a:solidFill>
                            <a:srgbClr val="0B0B0B"/>
                          </a:solidFill>
                          <a:latin typeface="Segoe UI"/>
                        </a:rPr>
                        <a:t>CE + SupCon 0.10 + var</a:t>
                      </a:r>
                    </a:p>
                  </a:txBody>
                  <a:tcPr marT="19050" marB="19050">
                    <a:solidFill>
                      <a:srgbClr val="FFFFFF"/>
                    </a:solidFill>
                  </a:tcPr>
                </a:tc>
                <a:tc>
                  <a:txBody>
                    <a:bodyPr wrap="square"/>
                    <a:lstStyle/>
                    <a:p>
                      <a:pPr algn="r"/>
                      <a:r>
                        <a:rPr sz="1050" b="0" i="0">
                          <a:solidFill>
                            <a:srgbClr val="0B0B0B"/>
                          </a:solidFill>
                          <a:latin typeface="Consolas"/>
                        </a:rPr>
                        <a:t>0.4662</a:t>
                      </a:r>
                    </a:p>
                  </a:txBody>
                  <a:tcPr marT="19050" marB="19050">
                    <a:solidFill>
                      <a:srgbClr val="FFFFFF"/>
                    </a:solidFill>
                  </a:tcPr>
                </a:tc>
                <a:tc>
                  <a:txBody>
                    <a:bodyPr wrap="square"/>
                    <a:lstStyle/>
                    <a:p>
                      <a:pPr algn="r"/>
                      <a:r>
                        <a:rPr sz="1050" b="0" i="0">
                          <a:solidFill>
                            <a:srgbClr val="0B0B0B"/>
                          </a:solidFill>
                          <a:latin typeface="Consolas"/>
                        </a:rPr>
                        <a:t>0.4580</a:t>
                      </a:r>
                    </a:p>
                  </a:txBody>
                  <a:tcPr marT="19050" marB="19050">
                    <a:solidFill>
                      <a:srgbClr val="FFFFFF"/>
                    </a:solidFill>
                  </a:tcPr>
                </a:tc>
                <a:tc>
                  <a:txBody>
                    <a:bodyPr wrap="square"/>
                    <a:lstStyle/>
                    <a:p>
                      <a:pPr algn="r"/>
                      <a:r>
                        <a:rPr sz="1050" b="0" i="0">
                          <a:solidFill>
                            <a:srgbClr val="0B0B0B"/>
                          </a:solidFill>
                          <a:latin typeface="Consolas"/>
                        </a:rPr>
                        <a:t>0.5609</a:t>
                      </a:r>
                    </a:p>
                  </a:txBody>
                  <a:tcPr marT="19050" marB="19050">
                    <a:solidFill>
                      <a:srgbClr val="FFFFFF"/>
                    </a:solidFill>
                  </a:tcPr>
                </a:tc>
                <a:tc>
                  <a:txBody>
                    <a:bodyPr wrap="square"/>
                    <a:lstStyle/>
                    <a:p>
                      <a:pPr algn="r"/>
                      <a:r>
                        <a:rPr sz="1050" b="0" i="0">
                          <a:solidFill>
                            <a:srgbClr val="0B0B0B"/>
                          </a:solidFill>
                          <a:latin typeface="Consolas"/>
                        </a:rPr>
                        <a:t>0.1937</a:t>
                      </a:r>
                    </a:p>
                  </a:txBody>
                  <a:tcPr marT="19050" marB="19050">
                    <a:solidFill>
                      <a:srgbClr val="FFFFFF"/>
                    </a:solidFill>
                  </a:tcPr>
                </a:tc>
                <a:tc>
                  <a:txBody>
                    <a:bodyPr wrap="square"/>
                    <a:lstStyle/>
                    <a:p>
                      <a:pPr algn="r"/>
                      <a:r>
                        <a:rPr sz="1050" b="0" i="0">
                          <a:solidFill>
                            <a:srgbClr val="0B0B0B"/>
                          </a:solidFill>
                          <a:latin typeface="Consolas"/>
                        </a:rPr>
                        <a:t>3.57</a:t>
                      </a:r>
                    </a:p>
                  </a:txBody>
                  <a:tcPr marT="19050" marB="19050">
                    <a:solidFill>
                      <a:srgbClr val="FFFFFF"/>
                    </a:solidFill>
                  </a:tcPr>
                </a:tc>
                <a:tc>
                  <a:txBody>
                    <a:bodyPr wrap="square"/>
                    <a:lstStyle/>
                    <a:p>
                      <a:pPr algn="r"/>
                      <a:r>
                        <a:rPr sz="1050" b="0" i="0">
                          <a:solidFill>
                            <a:srgbClr val="0B0B0B"/>
                          </a:solidFill>
                          <a:latin typeface="Consolas"/>
                        </a:rPr>
                        <a:t>22.14</a:t>
                      </a:r>
                    </a:p>
                  </a:txBody>
                  <a:tcPr marT="19050" marB="19050">
                    <a:solidFill>
                      <a:srgbClr val="FFFFFF"/>
                    </a:solidFill>
                  </a:tcPr>
                </a:tc>
              </a:tr>
              <a:tr h="385356">
                <a:tc>
                  <a:txBody>
                    <a:bodyPr wrap="square"/>
                    <a:lstStyle/>
                    <a:p>
                      <a:pPr algn="l"/>
                      <a:r>
                        <a:rPr sz="1050" b="0" i="0">
                          <a:solidFill>
                            <a:srgbClr val="0B0B0B"/>
                          </a:solidFill>
                          <a:latin typeface="Segoe UI"/>
                        </a:rPr>
                        <a:t>CE + var + Cov 0.005</a:t>
                      </a:r>
                    </a:p>
                  </a:txBody>
                  <a:tcPr marT="19050" marB="19050">
                    <a:solidFill>
                      <a:srgbClr val="FFFFFF"/>
                    </a:solidFill>
                  </a:tcPr>
                </a:tc>
                <a:tc>
                  <a:txBody>
                    <a:bodyPr wrap="square"/>
                    <a:lstStyle/>
                    <a:p>
                      <a:pPr algn="r"/>
                      <a:r>
                        <a:rPr sz="1050" b="0" i="0">
                          <a:solidFill>
                            <a:srgbClr val="0B0B0B"/>
                          </a:solidFill>
                          <a:latin typeface="Consolas"/>
                        </a:rPr>
                        <a:t>0.4716</a:t>
                      </a:r>
                    </a:p>
                  </a:txBody>
                  <a:tcPr marT="19050" marB="19050">
                    <a:solidFill>
                      <a:srgbClr val="FFFFFF"/>
                    </a:solidFill>
                  </a:tcPr>
                </a:tc>
                <a:tc>
                  <a:txBody>
                    <a:bodyPr wrap="square"/>
                    <a:lstStyle/>
                    <a:p>
                      <a:pPr algn="r"/>
                      <a:r>
                        <a:rPr sz="1050" b="0" i="0">
                          <a:solidFill>
                            <a:srgbClr val="0B0B0B"/>
                          </a:solidFill>
                          <a:latin typeface="Consolas"/>
                        </a:rPr>
                        <a:t>0.4644</a:t>
                      </a:r>
                    </a:p>
                  </a:txBody>
                  <a:tcPr marT="19050" marB="19050">
                    <a:solidFill>
                      <a:srgbClr val="FFFFFF"/>
                    </a:solidFill>
                  </a:tcPr>
                </a:tc>
                <a:tc>
                  <a:txBody>
                    <a:bodyPr wrap="square"/>
                    <a:lstStyle/>
                    <a:p>
                      <a:pPr algn="r"/>
                      <a:r>
                        <a:rPr sz="1050" b="0" i="0">
                          <a:solidFill>
                            <a:srgbClr val="0B0B0B"/>
                          </a:solidFill>
                          <a:latin typeface="Consolas"/>
                        </a:rPr>
                        <a:t>0.5599</a:t>
                      </a:r>
                    </a:p>
                  </a:txBody>
                  <a:tcPr marT="19050" marB="19050">
                    <a:solidFill>
                      <a:srgbClr val="FFFFFF"/>
                    </a:solidFill>
                  </a:tcPr>
                </a:tc>
                <a:tc>
                  <a:txBody>
                    <a:bodyPr wrap="square"/>
                    <a:lstStyle/>
                    <a:p>
                      <a:pPr algn="r"/>
                      <a:r>
                        <a:rPr sz="1050" b="0" i="0">
                          <a:solidFill>
                            <a:srgbClr val="0B0B0B"/>
                          </a:solidFill>
                          <a:latin typeface="Consolas"/>
                        </a:rPr>
                        <a:t>0.1318</a:t>
                      </a:r>
                    </a:p>
                  </a:txBody>
                  <a:tcPr marT="19050" marB="19050">
                    <a:solidFill>
                      <a:srgbClr val="FFFFFF"/>
                    </a:solidFill>
                  </a:tcPr>
                </a:tc>
                <a:tc>
                  <a:txBody>
                    <a:bodyPr wrap="square"/>
                    <a:lstStyle/>
                    <a:p>
                      <a:pPr algn="r"/>
                      <a:r>
                        <a:rPr sz="1050" b="0" i="0">
                          <a:solidFill>
                            <a:srgbClr val="0B0B0B"/>
                          </a:solidFill>
                          <a:latin typeface="Consolas"/>
                        </a:rPr>
                        <a:t>27.47</a:t>
                      </a:r>
                    </a:p>
                  </a:txBody>
                  <a:tcPr marT="19050" marB="19050">
                    <a:solidFill>
                      <a:srgbClr val="FFFFFF"/>
                    </a:solidFill>
                  </a:tcPr>
                </a:tc>
                <a:tc>
                  <a:txBody>
                    <a:bodyPr wrap="square"/>
                    <a:lstStyle/>
                    <a:p>
                      <a:pPr algn="r"/>
                      <a:r>
                        <a:rPr sz="1050" b="0" i="0">
                          <a:solidFill>
                            <a:srgbClr val="0B0B0B"/>
                          </a:solidFill>
                          <a:latin typeface="Consolas"/>
                        </a:rPr>
                        <a:t>254.24</a:t>
                      </a:r>
                    </a:p>
                  </a:txBody>
                  <a:tcPr marT="19050" marB="19050">
                    <a:solidFill>
                      <a:srgbClr val="FFFFFF"/>
                    </a:solidFill>
                  </a:tcPr>
                </a:tc>
              </a:tr>
            </a:tbl>
          </a:graphicData>
        </a:graphic>
      </p:graphicFrame>
      <p:sp>
        <p:nvSpPr>
          <p:cNvPr id="8" name="Rounded Rectangle 7"/>
          <p:cNvSpPr/>
          <p:nvPr/>
        </p:nvSpPr>
        <p:spPr>
          <a:xfrm>
            <a:off x="457200" y="4480560"/>
            <a:ext cx="11292840" cy="329184"/>
          </a:xfrm>
          <a:prstGeom prst="roundRect">
            <a:avLst>
              <a:gd name="adj" fmla="val 30000"/>
            </a:avLst>
          </a:prstGeom>
          <a:solidFill>
            <a:srgbClr val="FD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4480560"/>
            <a:ext cx="11036808" cy="329184"/>
          </a:xfrm>
          <a:prstGeom prst="rect">
            <a:avLst/>
          </a:prstGeom>
          <a:noFill/>
        </p:spPr>
        <p:txBody>
          <a:bodyPr wrap="square" anchor="ctr">
            <a:spAutoFit/>
          </a:bodyPr>
          <a:lstStyle/>
          <a:p>
            <a:r>
              <a:rPr sz="1050" b="1" i="0">
                <a:solidFill>
                  <a:srgbClr val="A1441F"/>
                </a:solidFill>
                <a:latin typeface="Segoe UI"/>
              </a:rPr>
              <a:t>⚠  </a:t>
            </a:r>
            <a:r>
              <a:rPr sz="1050" b="1" i="0">
                <a:solidFill>
                  <a:srgbClr val="A1441F"/>
                </a:solidFill>
                <a:latin typeface="Segoe UI"/>
              </a:rPr>
              <a:t>A plain “CE + variance only” 10-class run is not available in this comparison — all six rows add a further regularizer on top of CE + variance.</a:t>
            </a:r>
          </a:p>
        </p:txBody>
      </p:sp>
      <p:sp>
        <p:nvSpPr>
          <p:cNvPr id="10" name="TextBox 9"/>
          <p:cNvSpPr txBox="1"/>
          <p:nvPr/>
        </p:nvSpPr>
        <p:spPr>
          <a:xfrm>
            <a:off x="457200" y="4983480"/>
            <a:ext cx="11064240" cy="1554480"/>
          </a:xfrm>
          <a:prstGeom prst="rect">
            <a:avLst/>
          </a:prstGeom>
          <a:noFill/>
        </p:spPr>
        <p:txBody>
          <a:bodyPr wrap="square">
            <a:spAutoFit/>
          </a:bodyPr>
          <a:lstStyle/>
          <a:p>
            <a:pPr>
              <a:lnSpc>
                <a:spcPct val="110000"/>
              </a:lnSpc>
              <a:spcAft>
                <a:spcPts val="800"/>
              </a:spcAft>
            </a:pPr>
            <a:r>
              <a:rPr sz="750" b="0" i="0">
                <a:solidFill>
                  <a:srgbClr val="2A78D6"/>
                </a:solidFill>
                <a:latin typeface="Segoe UI"/>
              </a:rPr>
              <a:t>●   </a:t>
            </a:r>
            <a:r>
              <a:rPr sz="1250" b="1" i="0">
                <a:solidFill>
                  <a:srgbClr val="0B0B0B"/>
                </a:solidFill>
                <a:latin typeface="Segoe UI"/>
              </a:rPr>
              <a:t>Balanced</a:t>
            </a:r>
            <a:r>
              <a:rPr sz="1250" b="0" i="0">
                <a:solidFill>
                  <a:srgbClr val="0B0B0B"/>
                </a:solidFill>
                <a:latin typeface="Segoe UI"/>
              </a:rPr>
              <a:t> (CE+SupCon 0.05+var) and </a:t>
            </a:r>
            <a:r>
              <a:rPr sz="1250" b="1" i="0">
                <a:solidFill>
                  <a:srgbClr val="0B0B0B"/>
                </a:solidFill>
                <a:latin typeface="Segoe UI"/>
              </a:rPr>
              <a:t>anomaly-oriented</a:t>
            </a:r>
            <a:r>
              <a:rPr sz="1250" b="0" i="0">
                <a:solidFill>
                  <a:srgbClr val="0B0B0B"/>
                </a:solidFill>
                <a:latin typeface="Segoe UI"/>
              </a:rPr>
              <a:t> (CE+var+Cov 0.001) are the two configurations carried forward to the external-signal evaluation.</a:t>
            </a:r>
          </a:p>
          <a:p>
            <a:pPr>
              <a:lnSpc>
                <a:spcPct val="110000"/>
              </a:lnSpc>
              <a:spcAft>
                <a:spcPts val="800"/>
              </a:spcAft>
            </a:pPr>
            <a:r>
              <a:rPr sz="750" b="0" i="0">
                <a:solidFill>
                  <a:srgbClr val="2A78D6"/>
                </a:solidFill>
                <a:latin typeface="Segoe UI"/>
              </a:rPr>
              <a:t>●   </a:t>
            </a:r>
            <a:r>
              <a:rPr sz="1250" b="0" i="0">
                <a:solidFill>
                  <a:srgbClr val="0B0B0B"/>
                </a:solidFill>
                <a:latin typeface="Segoe UI"/>
              </a:rPr>
              <a:t>HH4B F1 is nearly flat across all six (0.557-0.561) — accuracy and eval-quality vary far more than HH4B F1 does.</a:t>
            </a:r>
          </a:p>
        </p:txBody>
      </p:sp>
      <p:sp>
        <p:nvSpPr>
          <p:cNvPr id="11" name="Oval 10"/>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78627"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EFFECTIVE RANK FOR THE SIX CONFIGURATIONS</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04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The objective function strongly affects latent-space usage</a:t>
            </a:r>
          </a:p>
        </p:txBody>
      </p:sp>
      <p:sp>
        <p:nvSpPr>
          <p:cNvPr id="6" name="TextBox 5"/>
          <p:cNvSpPr txBox="1"/>
          <p:nvPr/>
        </p:nvSpPr>
        <p:spPr>
          <a:xfrm>
            <a:off x="457200" y="1645920"/>
            <a:ext cx="5943600" cy="4206240"/>
          </a:xfrm>
          <a:prstGeom prst="rect">
            <a:avLst/>
          </a:prstGeom>
          <a:noFill/>
        </p:spPr>
        <p:txBody>
          <a:bodyPr wrap="square">
            <a:spAutoFit/>
          </a:bodyPr>
          <a:lstStyle/>
          <a:p>
            <a:pPr>
              <a:lnSpc>
                <a:spcPct val="110000"/>
              </a:lnSpc>
              <a:spcAft>
                <a:spcPts val="1000"/>
              </a:spcAft>
            </a:pPr>
            <a:r>
              <a:rPr sz="800" b="0" i="0">
                <a:solidFill>
                  <a:srgbClr val="2A78D6"/>
                </a:solidFill>
                <a:latin typeface="Segoe UI"/>
              </a:rPr>
              <a:t>●   </a:t>
            </a:r>
            <a:r>
              <a:rPr sz="1300" b="1" i="0">
                <a:solidFill>
                  <a:srgbClr val="0B0B0B"/>
                </a:solidFill>
                <a:latin typeface="Segoe UI"/>
              </a:rPr>
              <a:t>Effective rank</a:t>
            </a:r>
            <a:r>
              <a:rPr sz="1300" b="0" i="0">
                <a:solidFill>
                  <a:srgbClr val="0B0B0B"/>
                </a:solidFill>
                <a:latin typeface="Segoe UI"/>
              </a:rPr>
              <a:t> measures how many latent directions are actively used by the representation.</a:t>
            </a:r>
          </a:p>
          <a:p>
            <a:pPr>
              <a:lnSpc>
                <a:spcPct val="110000"/>
              </a:lnSpc>
              <a:spcAft>
                <a:spcPts val="1000"/>
              </a:spcAft>
            </a:pPr>
            <a:r>
              <a:rPr sz="800" b="0" i="0">
                <a:solidFill>
                  <a:srgbClr val="2A78D6"/>
                </a:solidFill>
                <a:latin typeface="Segoe UI"/>
              </a:rPr>
              <a:t>●   </a:t>
            </a:r>
            <a:r>
              <a:rPr sz="1300" b="1" i="0">
                <a:solidFill>
                  <a:srgbClr val="0B0B0B"/>
                </a:solidFill>
                <a:latin typeface="Segoe UI"/>
              </a:rPr>
              <a:t>Head-Fisher effective rank</a:t>
            </a:r>
            <a:r>
              <a:rPr sz="1300" b="0" i="0">
                <a:solidFill>
                  <a:srgbClr val="0B0B0B"/>
                </a:solidFill>
                <a:latin typeface="Segoe UI"/>
              </a:rPr>
              <a:t> measures how many classifier-head directions are important for the task.</a:t>
            </a:r>
          </a:p>
          <a:p>
            <a:pPr>
              <a:lnSpc>
                <a:spcPct val="110000"/>
              </a:lnSpc>
              <a:spcAft>
                <a:spcPts val="1000"/>
              </a:spcAft>
            </a:pPr>
            <a:r>
              <a:rPr sz="800" b="0" i="0">
                <a:solidFill>
                  <a:srgbClr val="2A78D6"/>
                </a:solidFill>
                <a:latin typeface="Segoe UI"/>
              </a:rPr>
              <a:t>●   </a:t>
            </a:r>
            <a:r>
              <a:rPr sz="1300" b="0" i="0">
                <a:solidFill>
                  <a:srgbClr val="0B0B0B"/>
                </a:solidFill>
                <a:latin typeface="Segoe UI"/>
              </a:rPr>
              <a:t>All six configurations share the same latent_dim=64 — yet effective rank ranges from 2.84 to 29.12, roughly a 10x spread, from objective choice alone.</a:t>
            </a:r>
          </a:p>
          <a:p>
            <a:pPr>
              <a:lnSpc>
                <a:spcPct val="110000"/>
              </a:lnSpc>
              <a:spcAft>
                <a:spcPts val="1000"/>
              </a:spcAft>
            </a:pPr>
            <a:r>
              <a:rPr sz="800" b="0" i="0">
                <a:solidFill>
                  <a:srgbClr val="2A78D6"/>
                </a:solidFill>
                <a:latin typeface="Segoe UI"/>
              </a:rPr>
              <a:t>●   </a:t>
            </a:r>
            <a:r>
              <a:rPr sz="1300" b="1" i="0">
                <a:solidFill>
                  <a:srgbClr val="0B0B0B"/>
                </a:solidFill>
                <a:latin typeface="Segoe UI"/>
              </a:rPr>
              <a:t>Higher nominal latent dimension does not automatically mean better anomaly detection</a:t>
            </a:r>
            <a:r>
              <a:rPr sz="1300" b="0" i="0">
                <a:solidFill>
                  <a:srgbClr val="0B0B0B"/>
                </a:solidFill>
                <a:latin typeface="Segoe UI"/>
              </a:rPr>
              <a:t> — see the latent_dim sweep on the next slide.</a:t>
            </a:r>
          </a:p>
        </p:txBody>
      </p:sp>
      <p:sp>
        <p:nvSpPr>
          <p:cNvPr id="7" name="Rounded Rectangle 6"/>
          <p:cNvSpPr/>
          <p:nvPr/>
        </p:nvSpPr>
        <p:spPr>
          <a:xfrm>
            <a:off x="6675120" y="1600200"/>
            <a:ext cx="5074920" cy="4343400"/>
          </a:xfrm>
          <a:prstGeom prst="roundRect">
            <a:avLst>
              <a:gd name="adj" fmla="val 6000"/>
            </a:avLst>
          </a:prstGeom>
          <a:solidFill>
            <a:srgbClr val="FFFFFF"/>
          </a:solidFill>
          <a:ln w="9525">
            <a:solidFill>
              <a:srgbClr val="D8D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03136" y="1691640"/>
            <a:ext cx="4818888" cy="237744"/>
          </a:xfrm>
          <a:prstGeom prst="rect">
            <a:avLst/>
          </a:prstGeom>
          <a:noFill/>
        </p:spPr>
        <p:txBody>
          <a:bodyPr wrap="square">
            <a:spAutoFit/>
          </a:bodyPr>
          <a:lstStyle/>
          <a:p>
            <a:pPr algn="l"/>
            <a:r>
              <a:rPr sz="950" b="1" i="0" spc="90">
                <a:solidFill>
                  <a:srgbClr val="898781"/>
                </a:solidFill>
                <a:latin typeface="Segoe UI"/>
              </a:rPr>
              <a:t>LATENT &amp; HEAD-FISHER DIMENSIONALITY</a:t>
            </a:r>
          </a:p>
        </p:txBody>
      </p:sp>
      <p:pic>
        <p:nvPicPr>
          <p:cNvPr id="9" name="Picture 8" descr="loss_objective_latent_head_fisher_available.png"/>
          <p:cNvPicPr>
            <a:picLocks noChangeAspect="1"/>
          </p:cNvPicPr>
          <p:nvPr/>
        </p:nvPicPr>
        <p:blipFill>
          <a:blip r:embed="rId2"/>
          <a:stretch>
            <a:fillRect/>
          </a:stretch>
        </p:blipFill>
        <p:spPr>
          <a:xfrm>
            <a:off x="6784848" y="1947672"/>
            <a:ext cx="4855464" cy="1734094"/>
          </a:xfrm>
          <a:prstGeom prst="rect">
            <a:avLst/>
          </a:prstGeom>
        </p:spPr>
      </p:pic>
      <p:sp>
        <p:nvSpPr>
          <p:cNvPr id="10" name="TextBox 9"/>
          <p:cNvSpPr txBox="1"/>
          <p:nvPr/>
        </p:nvSpPr>
        <p:spPr>
          <a:xfrm>
            <a:off x="6803136" y="5687568"/>
            <a:ext cx="4818888" cy="219456"/>
          </a:xfrm>
          <a:prstGeom prst="rect">
            <a:avLst/>
          </a:prstGeom>
          <a:noFill/>
        </p:spPr>
        <p:txBody>
          <a:bodyPr wrap="square">
            <a:spAutoFit/>
          </a:bodyPr>
          <a:lstStyle/>
          <a:p>
            <a:pPr algn="ctr"/>
            <a:r>
              <a:rPr sz="750" b="0" i="0">
                <a:solidFill>
                  <a:srgbClr val="898781"/>
                </a:solidFill>
                <a:latin typeface="Segoe UI"/>
              </a:rPr>
              <a:t>analysis/figures/superclass_loss_objective_comparison/loss_objective_latent_head_fisher_available.png</a:t>
            </a:r>
          </a:p>
        </p:txBody>
      </p:sp>
      <p:sp>
        <p:nvSpPr>
          <p:cNvPr id="11" name="Rounded Rectangle 10"/>
          <p:cNvSpPr/>
          <p:nvPr/>
        </p:nvSpPr>
        <p:spPr>
          <a:xfrm>
            <a:off x="6675120" y="5989320"/>
            <a:ext cx="5074920" cy="457200"/>
          </a:xfrm>
          <a:prstGeom prst="roundRect">
            <a:avLst>
              <a:gd name="adj" fmla="val 30000"/>
            </a:avLst>
          </a:prstGeom>
          <a:solidFill>
            <a:srgbClr val="FD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21424" y="5989320"/>
            <a:ext cx="4818888" cy="457200"/>
          </a:xfrm>
          <a:prstGeom prst="rect">
            <a:avLst/>
          </a:prstGeom>
          <a:noFill/>
        </p:spPr>
        <p:txBody>
          <a:bodyPr wrap="square" anchor="ctr">
            <a:spAutoFit/>
          </a:bodyPr>
          <a:lstStyle/>
          <a:p>
            <a:r>
              <a:rPr sz="1050" b="1" i="0">
                <a:solidFill>
                  <a:srgbClr val="A1441F"/>
                </a:solidFill>
                <a:latin typeface="Segoe UI"/>
              </a:rPr>
              <a:t>⚠  </a:t>
            </a:r>
            <a:r>
              <a:rPr sz="1050" b="1" i="0">
                <a:solidFill>
                  <a:srgbClr val="A1441F"/>
                </a:solidFill>
                <a:latin typeface="Segoe UI"/>
              </a:rPr>
              <a:t>Figure covers only 3 of 6 variants (focal, SupCon 0.10, Cov 0.005) — not full coverage.</a:t>
            </a:r>
          </a:p>
        </p:txBody>
      </p:sp>
      <p:sp>
        <p:nvSpPr>
          <p:cNvPr id="13" name="Oval 12"/>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06643"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BEST BALANCED CONFIGURATION SWEEP: LATENT_DIM 32 / 64 / 128</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05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More capacity did not clearly improve the representation</a:t>
            </a:r>
          </a:p>
        </p:txBody>
      </p:sp>
      <p:sp>
        <p:nvSpPr>
          <p:cNvPr id="6" name="TextBox 5"/>
          <p:cNvSpPr txBox="1"/>
          <p:nvPr/>
        </p:nvSpPr>
        <p:spPr>
          <a:xfrm>
            <a:off x="457200" y="1088136"/>
            <a:ext cx="11292840" cy="320040"/>
          </a:xfrm>
          <a:prstGeom prst="rect">
            <a:avLst/>
          </a:prstGeom>
          <a:noFill/>
        </p:spPr>
        <p:txBody>
          <a:bodyPr wrap="square">
            <a:spAutoFit/>
          </a:bodyPr>
          <a:lstStyle/>
          <a:p>
            <a:pPr algn="l"/>
            <a:r>
              <a:rPr sz="1200" b="0" i="0">
                <a:solidFill>
                  <a:srgbClr val="52514E"/>
                </a:solidFill>
                <a:latin typeface="Segoe UI"/>
              </a:rPr>
              <a:t>CE + SupCon 0.05 + variance · 100k events/class · same architecture otherwise</a:t>
            </a:r>
          </a:p>
        </p:txBody>
      </p:sp>
      <p:graphicFrame>
        <p:nvGraphicFramePr>
          <p:cNvPr id="7" name="Table 6"/>
          <p:cNvGraphicFramePr>
            <a:graphicFrameLocks noGrp="1"/>
          </p:cNvGraphicFramePr>
          <p:nvPr/>
        </p:nvGraphicFramePr>
        <p:xfrm>
          <a:off x="457200" y="1600200"/>
          <a:ext cx="6035040" cy="1417320"/>
        </p:xfrm>
        <a:graphic>
          <a:graphicData uri="http://schemas.openxmlformats.org/drawingml/2006/table">
            <a:tbl>
              <a:tblPr>
                <a:tableStyleId>{5C22544A-7EE6-4342-B048-85BDC9FD1C3A}</a:tableStyleId>
              </a:tblPr>
              <a:tblGrid>
                <a:gridCol w="1005840"/>
                <a:gridCol w="914400"/>
                <a:gridCol w="868680"/>
                <a:gridCol w="777240"/>
                <a:gridCol w="777240"/>
                <a:gridCol w="914400"/>
                <a:gridCol w="777240"/>
              </a:tblGrid>
              <a:tr h="354330">
                <a:tc>
                  <a:txBody>
                    <a:bodyPr wrap="square"/>
                    <a:lstStyle/>
                    <a:p>
                      <a:pPr algn="l"/>
                      <a:r>
                        <a:rPr sz="850" b="1" i="0" spc="40">
                          <a:solidFill>
                            <a:srgbClr val="898781"/>
                          </a:solidFill>
                          <a:latin typeface="Segoe UI"/>
                        </a:rPr>
                        <a:t>LATENT_DIM</a:t>
                      </a:r>
                    </a:p>
                  </a:txBody>
                  <a:tcPr marT="25400" marB="25400">
                    <a:solidFill>
                      <a:srgbClr val="FCFCFB"/>
                    </a:solidFill>
                  </a:tcPr>
                </a:tc>
                <a:tc>
                  <a:txBody>
                    <a:bodyPr wrap="square"/>
                    <a:lstStyle/>
                    <a:p>
                      <a:pPr algn="r"/>
                      <a:r>
                        <a:rPr sz="850" b="1" i="0" spc="40">
                          <a:solidFill>
                            <a:srgbClr val="898781"/>
                          </a:solidFill>
                          <a:latin typeface="Segoe UI"/>
                        </a:rPr>
                        <a:t>ACCURACY</a:t>
                      </a:r>
                    </a:p>
                  </a:txBody>
                  <a:tcPr marT="25400" marB="25400">
                    <a:solidFill>
                      <a:srgbClr val="FCFCFB"/>
                    </a:solidFill>
                  </a:tcPr>
                </a:tc>
                <a:tc>
                  <a:txBody>
                    <a:bodyPr wrap="square"/>
                    <a:lstStyle/>
                    <a:p>
                      <a:pPr algn="r"/>
                      <a:r>
                        <a:rPr sz="850" b="1" i="0" spc="40">
                          <a:solidFill>
                            <a:srgbClr val="898781"/>
                          </a:solidFill>
                          <a:latin typeface="Segoe UI"/>
                        </a:rPr>
                        <a:t>MACRO F1</a:t>
                      </a:r>
                    </a:p>
                  </a:txBody>
                  <a:tcPr marT="25400" marB="25400">
                    <a:solidFill>
                      <a:srgbClr val="FCFCFB"/>
                    </a:solidFill>
                  </a:tcPr>
                </a:tc>
                <a:tc>
                  <a:txBody>
                    <a:bodyPr wrap="square"/>
                    <a:lstStyle/>
                    <a:p>
                      <a:pPr algn="r"/>
                      <a:r>
                        <a:rPr sz="850" b="1" i="0" spc="40">
                          <a:solidFill>
                            <a:srgbClr val="898781"/>
                          </a:solidFill>
                          <a:latin typeface="Segoe UI"/>
                        </a:rPr>
                        <a:t>HH4B F1</a:t>
                      </a:r>
                    </a:p>
                  </a:txBody>
                  <a:tcPr marT="25400" marB="25400">
                    <a:solidFill>
                      <a:srgbClr val="FCFCFB"/>
                    </a:solidFill>
                  </a:tcPr>
                </a:tc>
                <a:tc>
                  <a:txBody>
                    <a:bodyPr wrap="square"/>
                    <a:lstStyle/>
                    <a:p>
                      <a:pPr algn="r"/>
                      <a:r>
                        <a:rPr sz="850" b="1" i="0" spc="40">
                          <a:solidFill>
                            <a:srgbClr val="898781"/>
                          </a:solidFill>
                          <a:latin typeface="Segoe UI"/>
                        </a:rPr>
                        <a:t>EFF. RANK</a:t>
                      </a:r>
                    </a:p>
                  </a:txBody>
                  <a:tcPr marT="25400" marB="25400">
                    <a:solidFill>
                      <a:srgbClr val="FCFCFB"/>
                    </a:solidFill>
                  </a:tcPr>
                </a:tc>
                <a:tc>
                  <a:txBody>
                    <a:bodyPr wrap="square"/>
                    <a:lstStyle/>
                    <a:p>
                      <a:pPr algn="r"/>
                      <a:r>
                        <a:rPr sz="850" b="1" i="0" spc="40">
                          <a:solidFill>
                            <a:srgbClr val="898781"/>
                          </a:solidFill>
                          <a:latin typeface="Segoe UI"/>
                        </a:rPr>
                        <a:t>PARTIC. RATIO</a:t>
                      </a:r>
                    </a:p>
                  </a:txBody>
                  <a:tcPr marT="25400" marB="25400">
                    <a:solidFill>
                      <a:srgbClr val="FCFCFB"/>
                    </a:solidFill>
                  </a:tcPr>
                </a:tc>
                <a:tc>
                  <a:txBody>
                    <a:bodyPr wrap="square"/>
                    <a:lstStyle/>
                    <a:p>
                      <a:pPr algn="r"/>
                      <a:r>
                        <a:rPr sz="850" b="1" i="0" spc="40">
                          <a:solidFill>
                            <a:srgbClr val="898781"/>
                          </a:solidFill>
                          <a:latin typeface="Segoe UI"/>
                        </a:rPr>
                        <a:t>EVAL-QUALITY</a:t>
                      </a:r>
                    </a:p>
                  </a:txBody>
                  <a:tcPr marT="25400" marB="25400">
                    <a:solidFill>
                      <a:srgbClr val="FCFCFB"/>
                    </a:solidFill>
                  </a:tcPr>
                </a:tc>
              </a:tr>
              <a:tr h="354330">
                <a:tc>
                  <a:txBody>
                    <a:bodyPr wrap="square"/>
                    <a:lstStyle/>
                    <a:p>
                      <a:pPr algn="l"/>
                      <a:r>
                        <a:rPr sz="1050" b="0" i="0">
                          <a:solidFill>
                            <a:srgbClr val="0B0B0B"/>
                          </a:solidFill>
                          <a:latin typeface="Segoe UI"/>
                        </a:rPr>
                        <a:t>32</a:t>
                      </a:r>
                    </a:p>
                  </a:txBody>
                  <a:tcPr marT="19050" marB="19050">
                    <a:solidFill>
                      <a:srgbClr val="FFFFFF"/>
                    </a:solidFill>
                  </a:tcPr>
                </a:tc>
                <a:tc>
                  <a:txBody>
                    <a:bodyPr wrap="square"/>
                    <a:lstStyle/>
                    <a:p>
                      <a:pPr algn="r"/>
                      <a:r>
                        <a:rPr sz="1050" b="0" i="0">
                          <a:solidFill>
                            <a:srgbClr val="0B0B0B"/>
                          </a:solidFill>
                          <a:latin typeface="Consolas"/>
                        </a:rPr>
                        <a:t>0.4687</a:t>
                      </a:r>
                    </a:p>
                  </a:txBody>
                  <a:tcPr marT="19050" marB="19050">
                    <a:solidFill>
                      <a:srgbClr val="FFFFFF"/>
                    </a:solidFill>
                  </a:tcPr>
                </a:tc>
                <a:tc>
                  <a:txBody>
                    <a:bodyPr wrap="square"/>
                    <a:lstStyle/>
                    <a:p>
                      <a:pPr algn="r"/>
                      <a:r>
                        <a:rPr sz="1050" b="0" i="0">
                          <a:solidFill>
                            <a:srgbClr val="0B0B0B"/>
                          </a:solidFill>
                          <a:latin typeface="Consolas"/>
                        </a:rPr>
                        <a:t>0.4634</a:t>
                      </a:r>
                    </a:p>
                  </a:txBody>
                  <a:tcPr marT="19050" marB="19050">
                    <a:solidFill>
                      <a:srgbClr val="FFFFFF"/>
                    </a:solidFill>
                  </a:tcPr>
                </a:tc>
                <a:tc>
                  <a:txBody>
                    <a:bodyPr wrap="square"/>
                    <a:lstStyle/>
                    <a:p>
                      <a:pPr algn="r"/>
                      <a:r>
                        <a:rPr sz="1050" b="0" i="0">
                          <a:solidFill>
                            <a:srgbClr val="0B0B0B"/>
                          </a:solidFill>
                          <a:latin typeface="Consolas"/>
                        </a:rPr>
                        <a:t>0.5639</a:t>
                      </a:r>
                    </a:p>
                  </a:txBody>
                  <a:tcPr marT="19050" marB="19050">
                    <a:solidFill>
                      <a:srgbClr val="FFFFFF"/>
                    </a:solidFill>
                  </a:tcPr>
                </a:tc>
                <a:tc>
                  <a:txBody>
                    <a:bodyPr wrap="square"/>
                    <a:lstStyle/>
                    <a:p>
                      <a:pPr algn="r"/>
                      <a:r>
                        <a:rPr sz="1050" b="0" i="0">
                          <a:solidFill>
                            <a:srgbClr val="0B0B0B"/>
                          </a:solidFill>
                          <a:latin typeface="Consolas"/>
                        </a:rPr>
                        <a:t>5.049</a:t>
                      </a:r>
                    </a:p>
                  </a:txBody>
                  <a:tcPr marT="19050" marB="19050">
                    <a:solidFill>
                      <a:srgbClr val="FFFFFF"/>
                    </a:solidFill>
                  </a:tcPr>
                </a:tc>
                <a:tc>
                  <a:txBody>
                    <a:bodyPr wrap="square"/>
                    <a:lstStyle/>
                    <a:p>
                      <a:pPr algn="r"/>
                      <a:r>
                        <a:rPr sz="1050" b="0" i="0">
                          <a:solidFill>
                            <a:srgbClr val="0B0B0B"/>
                          </a:solidFill>
                          <a:latin typeface="Consolas"/>
                        </a:rPr>
                        <a:t>3.386</a:t>
                      </a:r>
                    </a:p>
                  </a:txBody>
                  <a:tcPr marT="19050" marB="19050">
                    <a:solidFill>
                      <a:srgbClr val="FFFFFF"/>
                    </a:solidFill>
                  </a:tcPr>
                </a:tc>
                <a:tc>
                  <a:txBody>
                    <a:bodyPr wrap="square"/>
                    <a:lstStyle/>
                    <a:p>
                      <a:pPr algn="r"/>
                      <a:r>
                        <a:rPr sz="1050" b="0" i="0">
                          <a:solidFill>
                            <a:srgbClr val="0B0B0B"/>
                          </a:solidFill>
                          <a:latin typeface="Consolas"/>
                        </a:rPr>
                        <a:t>0.1594</a:t>
                      </a:r>
                    </a:p>
                  </a:txBody>
                  <a:tcPr marT="19050" marB="19050">
                    <a:solidFill>
                      <a:srgbClr val="FFFFFF"/>
                    </a:solidFill>
                  </a:tcPr>
                </a:tc>
              </a:tr>
              <a:tr h="354330">
                <a:tc>
                  <a:txBody>
                    <a:bodyPr wrap="square"/>
                    <a:lstStyle/>
                    <a:p>
                      <a:pPr algn="l"/>
                      <a:r>
                        <a:rPr sz="1050" b="0" i="0">
                          <a:solidFill>
                            <a:srgbClr val="0B0B0B"/>
                          </a:solidFill>
                          <a:latin typeface="Segoe UI"/>
                        </a:rPr>
                        <a:t>64</a:t>
                      </a:r>
                    </a:p>
                  </a:txBody>
                  <a:tcPr marT="19050" marB="19050">
                    <a:solidFill>
                      <a:srgbClr val="FFFFFF"/>
                    </a:solidFill>
                  </a:tcPr>
                </a:tc>
                <a:tc>
                  <a:txBody>
                    <a:bodyPr wrap="square"/>
                    <a:lstStyle/>
                    <a:p>
                      <a:pPr algn="r"/>
                      <a:r>
                        <a:rPr sz="1050" b="0" i="0">
                          <a:solidFill>
                            <a:srgbClr val="0B0B0B"/>
                          </a:solidFill>
                          <a:latin typeface="Consolas"/>
                        </a:rPr>
                        <a:t>0.4734</a:t>
                      </a:r>
                    </a:p>
                  </a:txBody>
                  <a:tcPr marT="19050" marB="19050">
                    <a:solidFill>
                      <a:srgbClr val="FFFFFF"/>
                    </a:solidFill>
                  </a:tcPr>
                </a:tc>
                <a:tc>
                  <a:txBody>
                    <a:bodyPr wrap="square"/>
                    <a:lstStyle/>
                    <a:p>
                      <a:pPr algn="r"/>
                      <a:r>
                        <a:rPr sz="1050" b="0" i="0">
                          <a:solidFill>
                            <a:srgbClr val="0B0B0B"/>
                          </a:solidFill>
                          <a:latin typeface="Consolas"/>
                        </a:rPr>
                        <a:t>0.4695</a:t>
                      </a:r>
                    </a:p>
                  </a:txBody>
                  <a:tcPr marT="19050" marB="19050">
                    <a:solidFill>
                      <a:srgbClr val="FFFFFF"/>
                    </a:solidFill>
                  </a:tcPr>
                </a:tc>
                <a:tc>
                  <a:txBody>
                    <a:bodyPr wrap="square"/>
                    <a:lstStyle/>
                    <a:p>
                      <a:pPr algn="r"/>
                      <a:r>
                        <a:rPr sz="1050" b="0" i="0">
                          <a:solidFill>
                            <a:srgbClr val="0B0B0B"/>
                          </a:solidFill>
                          <a:latin typeface="Consolas"/>
                        </a:rPr>
                        <a:t>0.5593</a:t>
                      </a:r>
                    </a:p>
                  </a:txBody>
                  <a:tcPr marT="19050" marB="19050">
                    <a:solidFill>
                      <a:srgbClr val="FFFFFF"/>
                    </a:solidFill>
                  </a:tcPr>
                </a:tc>
                <a:tc>
                  <a:txBody>
                    <a:bodyPr wrap="square"/>
                    <a:lstStyle/>
                    <a:p>
                      <a:pPr algn="r"/>
                      <a:r>
                        <a:rPr sz="1050" b="0" i="0">
                          <a:solidFill>
                            <a:srgbClr val="0B0B0B"/>
                          </a:solidFill>
                          <a:latin typeface="Consolas"/>
                        </a:rPr>
                        <a:t>4.448</a:t>
                      </a:r>
                    </a:p>
                  </a:txBody>
                  <a:tcPr marT="19050" marB="19050">
                    <a:solidFill>
                      <a:srgbClr val="FFFFFF"/>
                    </a:solidFill>
                  </a:tcPr>
                </a:tc>
                <a:tc>
                  <a:txBody>
                    <a:bodyPr wrap="square"/>
                    <a:lstStyle/>
                    <a:p>
                      <a:pPr algn="r"/>
                      <a:r>
                        <a:rPr sz="1050" b="0" i="0">
                          <a:solidFill>
                            <a:srgbClr val="0B0B0B"/>
                          </a:solidFill>
                          <a:latin typeface="Consolas"/>
                        </a:rPr>
                        <a:t>2.778</a:t>
                      </a:r>
                    </a:p>
                  </a:txBody>
                  <a:tcPr marT="19050" marB="19050">
                    <a:solidFill>
                      <a:srgbClr val="FFFFFF"/>
                    </a:solidFill>
                  </a:tcPr>
                </a:tc>
                <a:tc>
                  <a:txBody>
                    <a:bodyPr wrap="square"/>
                    <a:lstStyle/>
                    <a:p>
                      <a:pPr algn="r"/>
                      <a:r>
                        <a:rPr sz="1050" b="0" i="0">
                          <a:solidFill>
                            <a:srgbClr val="0B0B0B"/>
                          </a:solidFill>
                          <a:latin typeface="Consolas"/>
                        </a:rPr>
                        <a:t>0.00004</a:t>
                      </a:r>
                    </a:p>
                  </a:txBody>
                  <a:tcPr marT="19050" marB="19050">
                    <a:solidFill>
                      <a:srgbClr val="FFFFFF"/>
                    </a:solidFill>
                  </a:tcPr>
                </a:tc>
              </a:tr>
              <a:tr h="354330">
                <a:tc>
                  <a:txBody>
                    <a:bodyPr wrap="square"/>
                    <a:lstStyle/>
                    <a:p>
                      <a:pPr algn="l"/>
                      <a:r>
                        <a:rPr sz="1050" b="0" i="0">
                          <a:solidFill>
                            <a:srgbClr val="0B0B0B"/>
                          </a:solidFill>
                          <a:latin typeface="Segoe UI"/>
                        </a:rPr>
                        <a:t>128</a:t>
                      </a:r>
                    </a:p>
                  </a:txBody>
                  <a:tcPr marT="19050" marB="19050">
                    <a:solidFill>
                      <a:srgbClr val="FFFFFF"/>
                    </a:solidFill>
                  </a:tcPr>
                </a:tc>
                <a:tc>
                  <a:txBody>
                    <a:bodyPr wrap="square"/>
                    <a:lstStyle/>
                    <a:p>
                      <a:pPr algn="r"/>
                      <a:r>
                        <a:rPr sz="1050" b="0" i="0">
                          <a:solidFill>
                            <a:srgbClr val="0B0B0B"/>
                          </a:solidFill>
                          <a:latin typeface="Consolas"/>
                        </a:rPr>
                        <a:t>0.4675</a:t>
                      </a:r>
                    </a:p>
                  </a:txBody>
                  <a:tcPr marT="19050" marB="19050">
                    <a:solidFill>
                      <a:srgbClr val="FFFFFF"/>
                    </a:solidFill>
                  </a:tcPr>
                </a:tc>
                <a:tc>
                  <a:txBody>
                    <a:bodyPr wrap="square"/>
                    <a:lstStyle/>
                    <a:p>
                      <a:pPr algn="r"/>
                      <a:r>
                        <a:rPr sz="1050" b="0" i="0">
                          <a:solidFill>
                            <a:srgbClr val="0B0B0B"/>
                          </a:solidFill>
                          <a:latin typeface="Consolas"/>
                        </a:rPr>
                        <a:t>0.4613</a:t>
                      </a:r>
                    </a:p>
                  </a:txBody>
                  <a:tcPr marT="19050" marB="19050">
                    <a:solidFill>
                      <a:srgbClr val="FFFFFF"/>
                    </a:solidFill>
                  </a:tcPr>
                </a:tc>
                <a:tc>
                  <a:txBody>
                    <a:bodyPr wrap="square"/>
                    <a:lstStyle/>
                    <a:p>
                      <a:pPr algn="r"/>
                      <a:r>
                        <a:rPr sz="1050" b="0" i="0">
                          <a:solidFill>
                            <a:srgbClr val="0B0B0B"/>
                          </a:solidFill>
                          <a:latin typeface="Consolas"/>
                        </a:rPr>
                        <a:t>0.5615</a:t>
                      </a:r>
                    </a:p>
                  </a:txBody>
                  <a:tcPr marT="19050" marB="19050">
                    <a:solidFill>
                      <a:srgbClr val="FFFFFF"/>
                    </a:solidFill>
                  </a:tcPr>
                </a:tc>
                <a:tc>
                  <a:txBody>
                    <a:bodyPr wrap="square"/>
                    <a:lstStyle/>
                    <a:p>
                      <a:pPr algn="r"/>
                      <a:r>
                        <a:rPr sz="1050" b="0" i="0">
                          <a:solidFill>
                            <a:srgbClr val="0B0B0B"/>
                          </a:solidFill>
                          <a:latin typeface="Consolas"/>
                        </a:rPr>
                        <a:t>1.511</a:t>
                      </a:r>
                    </a:p>
                  </a:txBody>
                  <a:tcPr marT="19050" marB="19050">
                    <a:solidFill>
                      <a:srgbClr val="FFFFFF"/>
                    </a:solidFill>
                  </a:tcPr>
                </a:tc>
                <a:tc>
                  <a:txBody>
                    <a:bodyPr wrap="square"/>
                    <a:lstStyle/>
                    <a:p>
                      <a:pPr algn="r"/>
                      <a:r>
                        <a:rPr sz="1050" b="0" i="0">
                          <a:solidFill>
                            <a:srgbClr val="0B0B0B"/>
                          </a:solidFill>
                          <a:latin typeface="Consolas"/>
                        </a:rPr>
                        <a:t>1.169</a:t>
                      </a:r>
                    </a:p>
                  </a:txBody>
                  <a:tcPr marT="19050" marB="19050">
                    <a:solidFill>
                      <a:srgbClr val="FFFFFF"/>
                    </a:solidFill>
                  </a:tcPr>
                </a:tc>
                <a:tc>
                  <a:txBody>
                    <a:bodyPr wrap="square"/>
                    <a:lstStyle/>
                    <a:p>
                      <a:pPr algn="r"/>
                      <a:r>
                        <a:rPr sz="1050" b="0" i="0">
                          <a:solidFill>
                            <a:srgbClr val="0B0B0B"/>
                          </a:solidFill>
                          <a:latin typeface="Consolas"/>
                        </a:rPr>
                        <a:t>0.2253</a:t>
                      </a:r>
                    </a:p>
                  </a:txBody>
                  <a:tcPr marT="19050" marB="19050">
                    <a:solidFill>
                      <a:srgbClr val="FFFFFF"/>
                    </a:solidFill>
                  </a:tcPr>
                </a:tc>
              </a:tr>
            </a:tbl>
          </a:graphicData>
        </a:graphic>
      </p:graphicFrame>
      <p:sp>
        <p:nvSpPr>
          <p:cNvPr id="8" name="Rounded Rectangle 7"/>
          <p:cNvSpPr/>
          <p:nvPr/>
        </p:nvSpPr>
        <p:spPr>
          <a:xfrm>
            <a:off x="457200" y="3246120"/>
            <a:ext cx="6035040" cy="3246120"/>
          </a:xfrm>
          <a:prstGeom prst="roundRect">
            <a:avLst>
              <a:gd name="adj" fmla="val 6000"/>
            </a:avLst>
          </a:prstGeom>
          <a:solidFill>
            <a:srgbClr val="FFFFFF"/>
          </a:solidFill>
          <a:ln w="9525">
            <a:solidFill>
              <a:srgbClr val="D8D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383280"/>
            <a:ext cx="5486400" cy="237744"/>
          </a:xfrm>
          <a:prstGeom prst="rect">
            <a:avLst/>
          </a:prstGeom>
          <a:noFill/>
        </p:spPr>
        <p:txBody>
          <a:bodyPr wrap="square">
            <a:spAutoFit/>
          </a:bodyPr>
          <a:lstStyle/>
          <a:p>
            <a:pPr algn="l"/>
            <a:r>
              <a:rPr sz="950" b="1" i="0" spc="90">
                <a:solidFill>
                  <a:srgbClr val="898781"/>
                </a:solidFill>
                <a:latin typeface="Segoe UI"/>
              </a:rPr>
              <a:t>EFFECTIVE RANK VS. LATENT_DIM</a:t>
            </a:r>
          </a:p>
        </p:txBody>
      </p:sp>
      <p:graphicFrame>
        <p:nvGraphicFramePr>
          <p:cNvPr id="10" name="Chart 9"/>
          <p:cNvGraphicFramePr>
            <a:graphicFrameLocks noGrp="1"/>
          </p:cNvGraphicFramePr>
          <p:nvPr/>
        </p:nvGraphicFramePr>
        <p:xfrm>
          <a:off x="548640" y="3703320"/>
          <a:ext cx="5852160" cy="2651760"/>
        </p:xfrm>
        <a:graphic>
          <a:graphicData uri="http://schemas.openxmlformats.org/drawingml/2006/chart">
            <c:chart xmlns:c="http://schemas.openxmlformats.org/drawingml/2006/chart" r:id="rId2"/>
          </a:graphicData>
        </a:graphic>
      </p:graphicFrame>
      <p:sp>
        <p:nvSpPr>
          <p:cNvPr id="11" name="TextBox 10"/>
          <p:cNvSpPr txBox="1"/>
          <p:nvPr/>
        </p:nvSpPr>
        <p:spPr>
          <a:xfrm>
            <a:off x="6766560" y="1600200"/>
            <a:ext cx="4983480" cy="3017520"/>
          </a:xfrm>
          <a:prstGeom prst="rect">
            <a:avLst/>
          </a:prstGeom>
          <a:noFill/>
        </p:spPr>
        <p:txBody>
          <a:bodyPr wrap="square">
            <a:spAutoFit/>
          </a:bodyPr>
          <a:lstStyle/>
          <a:p>
            <a:pPr>
              <a:lnSpc>
                <a:spcPct val="110000"/>
              </a:lnSpc>
              <a:spcAft>
                <a:spcPts val="900"/>
              </a:spcAft>
            </a:pPr>
            <a:r>
              <a:rPr sz="700" b="0" i="0">
                <a:solidFill>
                  <a:srgbClr val="2A78D6"/>
                </a:solidFill>
                <a:latin typeface="Segoe UI"/>
              </a:rPr>
              <a:t>●   </a:t>
            </a:r>
            <a:r>
              <a:rPr sz="1200" b="0" i="0">
                <a:solidFill>
                  <a:srgbClr val="0B0B0B"/>
                </a:solidFill>
                <a:latin typeface="Segoe UI"/>
              </a:rPr>
              <a:t>This sweep was requested to check whether more latent capacity improves the representation.</a:t>
            </a:r>
          </a:p>
          <a:p>
            <a:pPr>
              <a:lnSpc>
                <a:spcPct val="110000"/>
              </a:lnSpc>
              <a:spcAft>
                <a:spcPts val="900"/>
              </a:spcAft>
            </a:pPr>
            <a:r>
              <a:rPr sz="700" b="0" i="0">
                <a:solidFill>
                  <a:srgbClr val="2A78D6"/>
                </a:solidFill>
                <a:latin typeface="Segoe UI"/>
              </a:rPr>
              <a:t>●   </a:t>
            </a:r>
            <a:r>
              <a:rPr sz="1200" b="1" i="0">
                <a:solidFill>
                  <a:srgbClr val="0B0B0B"/>
                </a:solidFill>
                <a:latin typeface="Segoe UI"/>
              </a:rPr>
              <a:t>Effective rank decreased</a:t>
            </a:r>
            <a:r>
              <a:rPr sz="1200" b="0" i="0">
                <a:solidFill>
                  <a:srgbClr val="0B0B0B"/>
                </a:solidFill>
                <a:latin typeface="Segoe UI"/>
              </a:rPr>
              <a:t> as latent_dim increased (5.05 → 4.45 → 1.51) — the opposite of the naive expectation.</a:t>
            </a:r>
          </a:p>
          <a:p>
            <a:pPr>
              <a:lnSpc>
                <a:spcPct val="110000"/>
              </a:lnSpc>
              <a:spcAft>
                <a:spcPts val="900"/>
              </a:spcAft>
            </a:pPr>
            <a:r>
              <a:rPr sz="700" b="0" i="0">
                <a:solidFill>
                  <a:srgbClr val="2A78D6"/>
                </a:solidFill>
                <a:latin typeface="Segoe UI"/>
              </a:rPr>
              <a:t>●   </a:t>
            </a:r>
            <a:r>
              <a:rPr sz="1200" b="1" i="0">
                <a:solidFill>
                  <a:srgbClr val="0B0B0B"/>
                </a:solidFill>
                <a:latin typeface="Segoe UI"/>
              </a:rPr>
              <a:t>eval-quality collapsed near zero at latent_dim=64</a:t>
            </a:r>
            <a:r>
              <a:rPr sz="1200" b="0" i="0">
                <a:solidFill>
                  <a:srgbClr val="0B0B0B"/>
                </a:solidFill>
                <a:latin typeface="Segoe UI"/>
              </a:rPr>
              <a:t> (0.00004), then recovered at 128 — a non-monotonic pattern similar to instabilities seen in earlier sweeps.</a:t>
            </a:r>
          </a:p>
          <a:p>
            <a:pPr>
              <a:lnSpc>
                <a:spcPct val="110000"/>
              </a:lnSpc>
              <a:spcAft>
                <a:spcPts val="900"/>
              </a:spcAft>
            </a:pPr>
            <a:r>
              <a:rPr sz="700" b="0" i="0">
                <a:solidFill>
                  <a:srgbClr val="2A78D6"/>
                </a:solidFill>
                <a:latin typeface="Segoe UI"/>
              </a:rPr>
              <a:t>●   </a:t>
            </a:r>
            <a:r>
              <a:rPr sz="1200" b="0" i="0">
                <a:solidFill>
                  <a:srgbClr val="0B0B0B"/>
                </a:solidFill>
                <a:latin typeface="Segoe UI"/>
              </a:rPr>
              <a:t>HH4B F1 stayed essentially flat (0.559-0.564) across all three — capacity alone did not change anomaly-relevant classification.</a:t>
            </a:r>
          </a:p>
        </p:txBody>
      </p:sp>
      <p:sp>
        <p:nvSpPr>
          <p:cNvPr id="12" name="Rounded Rectangle 11"/>
          <p:cNvSpPr/>
          <p:nvPr/>
        </p:nvSpPr>
        <p:spPr>
          <a:xfrm>
            <a:off x="6766560" y="4846320"/>
            <a:ext cx="4983480" cy="548640"/>
          </a:xfrm>
          <a:prstGeom prst="roundRect">
            <a:avLst>
              <a:gd name="adj" fmla="val 30000"/>
            </a:avLst>
          </a:prstGeom>
          <a:solidFill>
            <a:srgbClr val="FD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12864" y="4846320"/>
            <a:ext cx="4727448" cy="548640"/>
          </a:xfrm>
          <a:prstGeom prst="rect">
            <a:avLst/>
          </a:prstGeom>
          <a:noFill/>
        </p:spPr>
        <p:txBody>
          <a:bodyPr wrap="square" anchor="ctr">
            <a:spAutoFit/>
          </a:bodyPr>
          <a:lstStyle/>
          <a:p>
            <a:r>
              <a:rPr sz="1050" b="1" i="0">
                <a:solidFill>
                  <a:srgbClr val="A1441F"/>
                </a:solidFill>
                <a:latin typeface="Segoe UI"/>
              </a:rPr>
              <a:t>⚠  </a:t>
            </a:r>
            <a:r>
              <a:rPr sz="1050" b="1" i="0">
                <a:solidFill>
                  <a:srgbClr val="A1441F"/>
                </a:solidFill>
                <a:latin typeface="Segoe UI"/>
              </a:rPr>
              <a:t>eval-quality is highly non-monotonic here — treat as an unresolved instability, not a settled trend.</a:t>
            </a:r>
          </a:p>
        </p:txBody>
      </p:sp>
      <p:sp>
        <p:nvSpPr>
          <p:cNvPr id="14" name="Oval 13"/>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734659"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EXTERNAL HIGGS SIGNAL EVALUATION SETUP</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06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Testing signals the model has never seen in training</a:t>
            </a:r>
          </a:p>
        </p:txBody>
      </p:sp>
      <p:sp>
        <p:nvSpPr>
          <p:cNvPr id="6" name="TextBox 5"/>
          <p:cNvSpPr txBox="1"/>
          <p:nvPr/>
        </p:nvSpPr>
        <p:spPr>
          <a:xfrm>
            <a:off x="640080" y="1737360"/>
            <a:ext cx="10881360" cy="4206240"/>
          </a:xfrm>
          <a:prstGeom prst="rect">
            <a:avLst/>
          </a:prstGeom>
          <a:noFill/>
        </p:spPr>
        <p:txBody>
          <a:bodyPr wrap="square">
            <a:spAutoFit/>
          </a:bodyPr>
          <a:lstStyle/>
          <a:p>
            <a:pPr>
              <a:lnSpc>
                <a:spcPct val="110000"/>
              </a:lnSpc>
              <a:spcAft>
                <a:spcPts val="1300"/>
              </a:spcAft>
            </a:pPr>
            <a:r>
              <a:rPr sz="950" b="0" i="0">
                <a:solidFill>
                  <a:srgbClr val="2A78D6"/>
                </a:solidFill>
                <a:latin typeface="Segoe UI"/>
              </a:rPr>
              <a:t>●   </a:t>
            </a:r>
            <a:r>
              <a:rPr sz="1450" b="1" i="0">
                <a:solidFill>
                  <a:srgbClr val="0B0B0B"/>
                </a:solidFill>
                <a:latin typeface="Segoe UI"/>
              </a:rPr>
              <a:t>External Higgs-like samples evaluated</a:t>
            </a:r>
            <a:r>
              <a:rPr sz="1450" b="0" i="0">
                <a:solidFill>
                  <a:srgbClr val="0B0B0B"/>
                </a:solidFill>
                <a:latin typeface="Segoe UI"/>
              </a:rPr>
              <a:t>: HH, VBFH, ggH — plus trained HH4B as reference.</a:t>
            </a:r>
          </a:p>
          <a:p>
            <a:pPr>
              <a:lnSpc>
                <a:spcPct val="110000"/>
              </a:lnSpc>
              <a:spcAft>
                <a:spcPts val="1300"/>
              </a:spcAft>
            </a:pPr>
            <a:r>
              <a:rPr sz="950" b="0" i="0">
                <a:solidFill>
                  <a:srgbClr val="2A78D6"/>
                </a:solidFill>
                <a:latin typeface="Segoe UI"/>
              </a:rPr>
              <a:t>●   </a:t>
            </a:r>
            <a:r>
              <a:rPr sz="1450" b="0" i="0">
                <a:solidFill>
                  <a:srgbClr val="0B0B0B"/>
                </a:solidFill>
                <a:latin typeface="Segoe UI"/>
              </a:rPr>
              <a:t>These samples are evaluated as signals against the 9-class SM background (minbias, qcd, dy, top, wjets, ww, wz, ttw, ttz).</a:t>
            </a:r>
          </a:p>
          <a:p>
            <a:pPr>
              <a:lnSpc>
                <a:spcPct val="110000"/>
              </a:lnSpc>
              <a:spcAft>
                <a:spcPts val="1300"/>
              </a:spcAft>
            </a:pPr>
            <a:r>
              <a:rPr sz="950" b="0" i="0">
                <a:solidFill>
                  <a:srgbClr val="2A78D6"/>
                </a:solidFill>
                <a:latin typeface="Segoe UI"/>
              </a:rPr>
              <a:t>●   </a:t>
            </a:r>
            <a:r>
              <a:rPr sz="1450" b="1" i="0">
                <a:solidFill>
                  <a:srgbClr val="0B0B0B"/>
                </a:solidFill>
                <a:latin typeface="Segoe UI"/>
              </a:rPr>
              <a:t>For unseen samples, classifier response is not accuracy</a:t>
            </a:r>
            <a:r>
              <a:rPr sz="1450" b="0" i="0">
                <a:solidFill>
                  <a:srgbClr val="0B0B0B"/>
                </a:solidFill>
                <a:latin typeface="Segoe UI"/>
              </a:rPr>
              <a:t> — there is no ground-truth label to score against. It shows how the model maps them into known trained classes.</a:t>
            </a:r>
          </a:p>
          <a:p>
            <a:pPr>
              <a:lnSpc>
                <a:spcPct val="110000"/>
              </a:lnSpc>
              <a:spcAft>
                <a:spcPts val="1300"/>
              </a:spcAft>
            </a:pPr>
            <a:r>
              <a:rPr sz="950" b="0" i="0">
                <a:solidFill>
                  <a:srgbClr val="2A78D6"/>
                </a:solidFill>
                <a:latin typeface="Segoe UI"/>
              </a:rPr>
              <a:t>●   </a:t>
            </a:r>
            <a:r>
              <a:rPr sz="1450" b="1" i="0">
                <a:solidFill>
                  <a:srgbClr val="0B0B0B"/>
                </a:solidFill>
                <a:latin typeface="Segoe UI"/>
              </a:rPr>
              <a:t>Both matter</a:t>
            </a:r>
            <a:r>
              <a:rPr sz="1450" b="0" i="0">
                <a:solidFill>
                  <a:srgbClr val="0B0B0B"/>
                </a:solidFill>
                <a:latin typeface="Segoe UI"/>
              </a:rPr>
              <a:t>: anomaly score (latent-space geometry) and classifier response (class mapping) capture different things and can disagree.</a:t>
            </a:r>
          </a:p>
        </p:txBody>
      </p:sp>
      <p:sp>
        <p:nvSpPr>
          <p:cNvPr id="7" name="Oval 6"/>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62675"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10-CLASS MODEL: EXTERNAL HIGGS CLASSIFIER RESPONSE</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07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Balanced vs. anomaly-oriented objective</a:t>
            </a:r>
          </a:p>
        </p:txBody>
      </p:sp>
      <p:sp>
        <p:nvSpPr>
          <p:cNvPr id="6" name="Rounded Rectangle 5"/>
          <p:cNvSpPr/>
          <p:nvPr/>
        </p:nvSpPr>
        <p:spPr>
          <a:xfrm>
            <a:off x="457200" y="1554480"/>
            <a:ext cx="5486400" cy="2788920"/>
          </a:xfrm>
          <a:prstGeom prst="roundRect">
            <a:avLst>
              <a:gd name="adj" fmla="val 6000"/>
            </a:avLst>
          </a:prstGeom>
          <a:solidFill>
            <a:srgbClr val="FFFFFF"/>
          </a:solidFill>
          <a:ln w="9525">
            <a:solidFill>
              <a:srgbClr val="D8D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45920"/>
            <a:ext cx="5230368" cy="237744"/>
          </a:xfrm>
          <a:prstGeom prst="rect">
            <a:avLst/>
          </a:prstGeom>
          <a:noFill/>
        </p:spPr>
        <p:txBody>
          <a:bodyPr wrap="square">
            <a:spAutoFit/>
          </a:bodyPr>
          <a:lstStyle/>
          <a:p>
            <a:pPr algn="l"/>
            <a:r>
              <a:rPr sz="950" b="1" i="0" spc="90">
                <a:solidFill>
                  <a:srgbClr val="898781"/>
                </a:solidFill>
                <a:latin typeface="Segoe UI"/>
              </a:rPr>
              <a:t>BALANCED: CE + SUPCON 0.05 + VAR</a:t>
            </a:r>
          </a:p>
        </p:txBody>
      </p:sp>
      <p:pic>
        <p:nvPicPr>
          <p:cNvPr id="8" name="Picture 7" descr="classifier_response_matrix.png"/>
          <p:cNvPicPr>
            <a:picLocks noChangeAspect="1"/>
          </p:cNvPicPr>
          <p:nvPr/>
        </p:nvPicPr>
        <p:blipFill>
          <a:blip r:embed="rId2"/>
          <a:stretch>
            <a:fillRect/>
          </a:stretch>
        </p:blipFill>
        <p:spPr>
          <a:xfrm>
            <a:off x="1051560" y="1901952"/>
            <a:ext cx="4297680" cy="2148840"/>
          </a:xfrm>
          <a:prstGeom prst="rect">
            <a:avLst/>
          </a:prstGeom>
        </p:spPr>
      </p:pic>
      <p:sp>
        <p:nvSpPr>
          <p:cNvPr id="9" name="TextBox 8"/>
          <p:cNvSpPr txBox="1"/>
          <p:nvPr/>
        </p:nvSpPr>
        <p:spPr>
          <a:xfrm>
            <a:off x="585216" y="4087368"/>
            <a:ext cx="5230368" cy="219456"/>
          </a:xfrm>
          <a:prstGeom prst="rect">
            <a:avLst/>
          </a:prstGeom>
          <a:noFill/>
        </p:spPr>
        <p:txBody>
          <a:bodyPr wrap="square">
            <a:spAutoFit/>
          </a:bodyPr>
          <a:lstStyle/>
          <a:p>
            <a:pPr algn="ctr"/>
            <a:r>
              <a:rPr sz="750" b="0" i="0">
                <a:solidFill>
                  <a:srgbClr val="898781"/>
                </a:solidFill>
                <a:latin typeface="Segoe UI"/>
              </a:rPr>
              <a:t>runs/2026-08-04/sm_superclasses_balanced_supcon005_var001_100k_latent128/figures/external_classifier_response/classifier_response_matrix.png</a:t>
            </a:r>
          </a:p>
        </p:txBody>
      </p:sp>
      <p:sp>
        <p:nvSpPr>
          <p:cNvPr id="10" name="Rounded Rectangle 9"/>
          <p:cNvSpPr/>
          <p:nvPr/>
        </p:nvSpPr>
        <p:spPr>
          <a:xfrm>
            <a:off x="6217920" y="1554480"/>
            <a:ext cx="5486400" cy="2788920"/>
          </a:xfrm>
          <a:prstGeom prst="roundRect">
            <a:avLst>
              <a:gd name="adj" fmla="val 6000"/>
            </a:avLst>
          </a:prstGeom>
          <a:solidFill>
            <a:srgbClr val="FFFFFF"/>
          </a:solidFill>
          <a:ln w="9525">
            <a:solidFill>
              <a:srgbClr val="D8D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5936" y="1645920"/>
            <a:ext cx="5230368" cy="237744"/>
          </a:xfrm>
          <a:prstGeom prst="rect">
            <a:avLst/>
          </a:prstGeom>
          <a:noFill/>
        </p:spPr>
        <p:txBody>
          <a:bodyPr wrap="square">
            <a:spAutoFit/>
          </a:bodyPr>
          <a:lstStyle/>
          <a:p>
            <a:pPr algn="l"/>
            <a:r>
              <a:rPr sz="950" b="1" i="0" spc="90">
                <a:solidFill>
                  <a:srgbClr val="898781"/>
                </a:solidFill>
                <a:latin typeface="Segoe UI"/>
              </a:rPr>
              <a:t>ANOMALY-ORIENTED: CE + VAR + COV 0.001</a:t>
            </a:r>
          </a:p>
        </p:txBody>
      </p:sp>
      <p:pic>
        <p:nvPicPr>
          <p:cNvPr id="12" name="Picture 11" descr="classifier_response_matrix.png"/>
          <p:cNvPicPr>
            <a:picLocks noChangeAspect="1"/>
          </p:cNvPicPr>
          <p:nvPr/>
        </p:nvPicPr>
        <p:blipFill>
          <a:blip r:embed="rId3"/>
          <a:stretch>
            <a:fillRect/>
          </a:stretch>
        </p:blipFill>
        <p:spPr>
          <a:xfrm>
            <a:off x="6812280" y="1901952"/>
            <a:ext cx="4297680" cy="2148840"/>
          </a:xfrm>
          <a:prstGeom prst="rect">
            <a:avLst/>
          </a:prstGeom>
        </p:spPr>
      </p:pic>
      <p:sp>
        <p:nvSpPr>
          <p:cNvPr id="13" name="TextBox 12"/>
          <p:cNvSpPr txBox="1"/>
          <p:nvPr/>
        </p:nvSpPr>
        <p:spPr>
          <a:xfrm>
            <a:off x="6345936" y="4087368"/>
            <a:ext cx="5230368" cy="219456"/>
          </a:xfrm>
          <a:prstGeom prst="rect">
            <a:avLst/>
          </a:prstGeom>
          <a:noFill/>
        </p:spPr>
        <p:txBody>
          <a:bodyPr wrap="square">
            <a:spAutoFit/>
          </a:bodyPr>
          <a:lstStyle/>
          <a:p>
            <a:pPr algn="ctr"/>
            <a:r>
              <a:rPr sz="750" b="0" i="0">
                <a:solidFill>
                  <a:srgbClr val="898781"/>
                </a:solidFill>
                <a:latin typeface="Segoe UI"/>
              </a:rPr>
              <a:t>runs/2026-08-05/sm_superclasses_ce_var001_cov0001_100k_latent128/figures/external_classifier_response/classifier_response_matrix.png</a:t>
            </a:r>
          </a:p>
        </p:txBody>
      </p:sp>
      <p:graphicFrame>
        <p:nvGraphicFramePr>
          <p:cNvPr id="14" name="Table 13"/>
          <p:cNvGraphicFramePr>
            <a:graphicFrameLocks noGrp="1"/>
          </p:cNvGraphicFramePr>
          <p:nvPr/>
        </p:nvGraphicFramePr>
        <p:xfrm>
          <a:off x="457200" y="4572000"/>
          <a:ext cx="11064240" cy="1691640"/>
        </p:xfrm>
        <a:graphic>
          <a:graphicData uri="http://schemas.openxmlformats.org/drawingml/2006/table">
            <a:tbl>
              <a:tblPr>
                <a:tableStyleId>{5C22544A-7EE6-4342-B048-85BDC9FD1C3A}</a:tableStyleId>
              </a:tblPr>
              <a:tblGrid>
                <a:gridCol w="2286000"/>
                <a:gridCol w="2194560"/>
                <a:gridCol w="2194560"/>
                <a:gridCol w="2194560"/>
                <a:gridCol w="2194560"/>
              </a:tblGrid>
              <a:tr h="338328">
                <a:tc>
                  <a:txBody>
                    <a:bodyPr wrap="square"/>
                    <a:lstStyle/>
                    <a:p>
                      <a:pPr algn="l"/>
                      <a:r>
                        <a:rPr sz="850" b="1" i="0" spc="40">
                          <a:solidFill>
                            <a:srgbClr val="898781"/>
                          </a:solidFill>
                          <a:latin typeface="Segoe UI"/>
                        </a:rPr>
                        <a:t>SIGNAL</a:t>
                      </a:r>
                    </a:p>
                  </a:txBody>
                  <a:tcPr marT="25400" marB="25400">
                    <a:solidFill>
                      <a:srgbClr val="FCFCFB"/>
                    </a:solidFill>
                  </a:tcPr>
                </a:tc>
                <a:tc>
                  <a:txBody>
                    <a:bodyPr wrap="square"/>
                    <a:lstStyle/>
                    <a:p>
                      <a:pPr algn="r"/>
                      <a:r>
                        <a:rPr sz="850" b="1" i="0" spc="40">
                          <a:solidFill>
                            <a:srgbClr val="898781"/>
                          </a:solidFill>
                          <a:latin typeface="Segoe UI"/>
                        </a:rPr>
                        <a:t>TOP CLASS (BAL.)</a:t>
                      </a:r>
                    </a:p>
                  </a:txBody>
                  <a:tcPr marT="25400" marB="25400">
                    <a:solidFill>
                      <a:srgbClr val="FCFCFB"/>
                    </a:solidFill>
                  </a:tcPr>
                </a:tc>
                <a:tc>
                  <a:txBody>
                    <a:bodyPr wrap="square"/>
                    <a:lstStyle/>
                    <a:p>
                      <a:pPr algn="r"/>
                      <a:r>
                        <a:rPr sz="850" b="1" i="0" spc="40">
                          <a:solidFill>
                            <a:srgbClr val="898781"/>
                          </a:solidFill>
                          <a:latin typeface="Segoe UI"/>
                        </a:rPr>
                        <a:t>HH4B TAG (BAL.)</a:t>
                      </a:r>
                    </a:p>
                  </a:txBody>
                  <a:tcPr marT="25400" marB="25400">
                    <a:solidFill>
                      <a:srgbClr val="FCFCFB"/>
                    </a:solidFill>
                  </a:tcPr>
                </a:tc>
                <a:tc>
                  <a:txBody>
                    <a:bodyPr wrap="square"/>
                    <a:lstStyle/>
                    <a:p>
                      <a:pPr algn="r"/>
                      <a:r>
                        <a:rPr sz="850" b="1" i="0" spc="40">
                          <a:solidFill>
                            <a:srgbClr val="898781"/>
                          </a:solidFill>
                          <a:latin typeface="Segoe UI"/>
                        </a:rPr>
                        <a:t>TOP CLASS (ANOM.)</a:t>
                      </a:r>
                    </a:p>
                  </a:txBody>
                  <a:tcPr marT="25400" marB="25400">
                    <a:solidFill>
                      <a:srgbClr val="FCFCFB"/>
                    </a:solidFill>
                  </a:tcPr>
                </a:tc>
                <a:tc>
                  <a:txBody>
                    <a:bodyPr wrap="square"/>
                    <a:lstStyle/>
                    <a:p>
                      <a:pPr algn="r"/>
                      <a:r>
                        <a:rPr sz="850" b="1" i="0" spc="40">
                          <a:solidFill>
                            <a:srgbClr val="898781"/>
                          </a:solidFill>
                          <a:latin typeface="Segoe UI"/>
                        </a:rPr>
                        <a:t>HH4B TAG (ANOM.)</a:t>
                      </a:r>
                    </a:p>
                  </a:txBody>
                  <a:tcPr marT="25400" marB="25400">
                    <a:solidFill>
                      <a:srgbClr val="FCFCFB"/>
                    </a:solidFill>
                  </a:tcPr>
                </a:tc>
              </a:tr>
              <a:tr h="338328">
                <a:tc>
                  <a:txBody>
                    <a:bodyPr wrap="square"/>
                    <a:lstStyle/>
                    <a:p>
                      <a:pPr algn="l"/>
                      <a:r>
                        <a:rPr sz="1050" b="0" i="0">
                          <a:solidFill>
                            <a:srgbClr val="0B0B0B"/>
                          </a:solidFill>
                          <a:latin typeface="Segoe UI"/>
                        </a:rPr>
                        <a:t>hh4b (trained)</a:t>
                      </a:r>
                    </a:p>
                  </a:txBody>
                  <a:tcPr marT="19050" marB="19050">
                    <a:solidFill>
                      <a:srgbClr val="FFFFFF"/>
                    </a:solidFill>
                  </a:tcPr>
                </a:tc>
                <a:tc>
                  <a:txBody>
                    <a:bodyPr wrap="square"/>
                    <a:lstStyle/>
                    <a:p>
                      <a:pPr algn="r"/>
                      <a:r>
                        <a:rPr sz="1050" b="0" i="0">
                          <a:solidFill>
                            <a:srgbClr val="0B0B0B"/>
                          </a:solidFill>
                          <a:latin typeface="Consolas"/>
                        </a:rPr>
                        <a:t>hh4b</a:t>
                      </a:r>
                    </a:p>
                  </a:txBody>
                  <a:tcPr marT="19050" marB="19050">
                    <a:solidFill>
                      <a:srgbClr val="FFFFFF"/>
                    </a:solidFill>
                  </a:tcPr>
                </a:tc>
                <a:tc>
                  <a:txBody>
                    <a:bodyPr wrap="square"/>
                    <a:lstStyle/>
                    <a:p>
                      <a:pPr algn="r"/>
                      <a:r>
                        <a:rPr sz="1050" b="0" i="0">
                          <a:solidFill>
                            <a:srgbClr val="0B0B0B"/>
                          </a:solidFill>
                          <a:latin typeface="Consolas"/>
                        </a:rPr>
                        <a:t>0.6205</a:t>
                      </a:r>
                    </a:p>
                  </a:txBody>
                  <a:tcPr marT="19050" marB="19050">
                    <a:solidFill>
                      <a:srgbClr val="FFFFFF"/>
                    </a:solidFill>
                  </a:tcPr>
                </a:tc>
                <a:tc>
                  <a:txBody>
                    <a:bodyPr wrap="square"/>
                    <a:lstStyle/>
                    <a:p>
                      <a:pPr algn="r"/>
                      <a:r>
                        <a:rPr sz="1050" b="0" i="0">
                          <a:solidFill>
                            <a:srgbClr val="0B0B0B"/>
                          </a:solidFill>
                          <a:latin typeface="Consolas"/>
                        </a:rPr>
                        <a:t>hh4b</a:t>
                      </a:r>
                    </a:p>
                  </a:txBody>
                  <a:tcPr marT="19050" marB="19050">
                    <a:solidFill>
                      <a:srgbClr val="FFFFFF"/>
                    </a:solidFill>
                  </a:tcPr>
                </a:tc>
                <a:tc>
                  <a:txBody>
                    <a:bodyPr wrap="square"/>
                    <a:lstStyle/>
                    <a:p>
                      <a:pPr algn="r"/>
                      <a:r>
                        <a:rPr sz="1050" b="0" i="0">
                          <a:solidFill>
                            <a:srgbClr val="0B0B0B"/>
                          </a:solidFill>
                          <a:latin typeface="Consolas"/>
                        </a:rPr>
                        <a:t>0.5730</a:t>
                      </a:r>
                    </a:p>
                  </a:txBody>
                  <a:tcPr marT="19050" marB="19050">
                    <a:solidFill>
                      <a:srgbClr val="FFFFFF"/>
                    </a:solidFill>
                  </a:tcPr>
                </a:tc>
              </a:tr>
              <a:tr h="338328">
                <a:tc>
                  <a:txBody>
                    <a:bodyPr wrap="square"/>
                    <a:lstStyle/>
                    <a:p>
                      <a:pPr algn="l"/>
                      <a:r>
                        <a:rPr sz="1050" b="0" i="0">
                          <a:solidFill>
                            <a:srgbClr val="0B0B0B"/>
                          </a:solidFill>
                          <a:latin typeface="Segoe UI"/>
                        </a:rPr>
                        <a:t>hh</a:t>
                      </a:r>
                    </a:p>
                  </a:txBody>
                  <a:tcPr marT="19050" marB="19050">
                    <a:solidFill>
                      <a:srgbClr val="FFFFFF"/>
                    </a:solidFill>
                  </a:tcPr>
                </a:tc>
                <a:tc>
                  <a:txBody>
                    <a:bodyPr wrap="square"/>
                    <a:lstStyle/>
                    <a:p>
                      <a:pPr algn="r"/>
                      <a:r>
                        <a:rPr sz="1050" b="0" i="0">
                          <a:solidFill>
                            <a:srgbClr val="0B0B0B"/>
                          </a:solidFill>
                          <a:latin typeface="Consolas"/>
                        </a:rPr>
                        <a:t>ww</a:t>
                      </a:r>
                    </a:p>
                  </a:txBody>
                  <a:tcPr marT="19050" marB="19050">
                    <a:solidFill>
                      <a:srgbClr val="FFFFFF"/>
                    </a:solidFill>
                  </a:tcPr>
                </a:tc>
                <a:tc>
                  <a:txBody>
                    <a:bodyPr wrap="square"/>
                    <a:lstStyle/>
                    <a:p>
                      <a:pPr algn="r"/>
                      <a:r>
                        <a:rPr sz="1050" b="0" i="0">
                          <a:solidFill>
                            <a:srgbClr val="0B0B0B"/>
                          </a:solidFill>
                          <a:latin typeface="Consolas"/>
                        </a:rPr>
                        <a:t>0.1725</a:t>
                      </a:r>
                    </a:p>
                  </a:txBody>
                  <a:tcPr marT="19050" marB="19050">
                    <a:solidFill>
                      <a:srgbClr val="FFFFFF"/>
                    </a:solidFill>
                  </a:tcPr>
                </a:tc>
                <a:tc>
                  <a:txBody>
                    <a:bodyPr wrap="square"/>
                    <a:lstStyle/>
                    <a:p>
                      <a:pPr algn="r"/>
                      <a:r>
                        <a:rPr sz="1050" b="0" i="0">
                          <a:solidFill>
                            <a:srgbClr val="0B0B0B"/>
                          </a:solidFill>
                          <a:latin typeface="Consolas"/>
                        </a:rPr>
                        <a:t>top</a:t>
                      </a:r>
                    </a:p>
                  </a:txBody>
                  <a:tcPr marT="19050" marB="19050">
                    <a:solidFill>
                      <a:srgbClr val="FFFFFF"/>
                    </a:solidFill>
                  </a:tcPr>
                </a:tc>
                <a:tc>
                  <a:txBody>
                    <a:bodyPr wrap="square"/>
                    <a:lstStyle/>
                    <a:p>
                      <a:pPr algn="r"/>
                      <a:r>
                        <a:rPr sz="1050" b="0" i="0">
                          <a:solidFill>
                            <a:srgbClr val="0B0B0B"/>
                          </a:solidFill>
                          <a:latin typeface="Consolas"/>
                        </a:rPr>
                        <a:t>0.1520</a:t>
                      </a:r>
                    </a:p>
                  </a:txBody>
                  <a:tcPr marT="19050" marB="19050">
                    <a:solidFill>
                      <a:srgbClr val="FFFFFF"/>
                    </a:solidFill>
                  </a:tcPr>
                </a:tc>
              </a:tr>
              <a:tr h="338328">
                <a:tc>
                  <a:txBody>
                    <a:bodyPr wrap="square"/>
                    <a:lstStyle/>
                    <a:p>
                      <a:pPr algn="l"/>
                      <a:r>
                        <a:rPr sz="1050" b="0" i="0">
                          <a:solidFill>
                            <a:srgbClr val="0B0B0B"/>
                          </a:solidFill>
                          <a:latin typeface="Segoe UI"/>
                        </a:rPr>
                        <a:t>vbfh</a:t>
                      </a:r>
                    </a:p>
                  </a:txBody>
                  <a:tcPr marT="19050" marB="19050">
                    <a:solidFill>
                      <a:srgbClr val="FFFFFF"/>
                    </a:solidFill>
                  </a:tcPr>
                </a:tc>
                <a:tc>
                  <a:txBody>
                    <a:bodyPr wrap="square"/>
                    <a:lstStyle/>
                    <a:p>
                      <a:pPr algn="r"/>
                      <a:r>
                        <a:rPr sz="1050" b="0" i="0">
                          <a:solidFill>
                            <a:srgbClr val="0B0B0B"/>
                          </a:solidFill>
                          <a:latin typeface="Consolas"/>
                        </a:rPr>
                        <a:t>wz</a:t>
                      </a:r>
                    </a:p>
                  </a:txBody>
                  <a:tcPr marT="19050" marB="19050">
                    <a:solidFill>
                      <a:srgbClr val="FFFFFF"/>
                    </a:solidFill>
                  </a:tcPr>
                </a:tc>
                <a:tc>
                  <a:txBody>
                    <a:bodyPr wrap="square"/>
                    <a:lstStyle/>
                    <a:p>
                      <a:pPr algn="r"/>
                      <a:r>
                        <a:rPr sz="1050" b="0" i="0">
                          <a:solidFill>
                            <a:srgbClr val="0B0B0B"/>
                          </a:solidFill>
                          <a:latin typeface="Consolas"/>
                        </a:rPr>
                        <a:t>0.0115</a:t>
                      </a:r>
                    </a:p>
                  </a:txBody>
                  <a:tcPr marT="19050" marB="19050">
                    <a:solidFill>
                      <a:srgbClr val="FFFFFF"/>
                    </a:solidFill>
                  </a:tcPr>
                </a:tc>
                <a:tc>
                  <a:txBody>
                    <a:bodyPr wrap="square"/>
                    <a:lstStyle/>
                    <a:p>
                      <a:pPr algn="r"/>
                      <a:r>
                        <a:rPr sz="1050" b="0" i="0">
                          <a:solidFill>
                            <a:srgbClr val="0B0B0B"/>
                          </a:solidFill>
                          <a:latin typeface="Consolas"/>
                        </a:rPr>
                        <a:t>wz</a:t>
                      </a:r>
                    </a:p>
                  </a:txBody>
                  <a:tcPr marT="19050" marB="19050">
                    <a:solidFill>
                      <a:srgbClr val="FFFFFF"/>
                    </a:solidFill>
                  </a:tcPr>
                </a:tc>
                <a:tc>
                  <a:txBody>
                    <a:bodyPr wrap="square"/>
                    <a:lstStyle/>
                    <a:p>
                      <a:pPr algn="r"/>
                      <a:r>
                        <a:rPr sz="1050" b="0" i="0">
                          <a:solidFill>
                            <a:srgbClr val="0B0B0B"/>
                          </a:solidFill>
                          <a:latin typeface="Consolas"/>
                        </a:rPr>
                        <a:t>0.0180</a:t>
                      </a:r>
                    </a:p>
                  </a:txBody>
                  <a:tcPr marT="19050" marB="19050">
                    <a:solidFill>
                      <a:srgbClr val="FFFFFF"/>
                    </a:solidFill>
                  </a:tcPr>
                </a:tc>
              </a:tr>
              <a:tr h="338328">
                <a:tc>
                  <a:txBody>
                    <a:bodyPr wrap="square"/>
                    <a:lstStyle/>
                    <a:p>
                      <a:pPr algn="l"/>
                      <a:r>
                        <a:rPr sz="1050" b="0" i="0">
                          <a:solidFill>
                            <a:srgbClr val="0B0B0B"/>
                          </a:solidFill>
                          <a:latin typeface="Segoe UI"/>
                        </a:rPr>
                        <a:t>ggh</a:t>
                      </a:r>
                    </a:p>
                  </a:txBody>
                  <a:tcPr marT="19050" marB="19050">
                    <a:solidFill>
                      <a:srgbClr val="FFFFFF"/>
                    </a:solidFill>
                  </a:tcPr>
                </a:tc>
                <a:tc>
                  <a:txBody>
                    <a:bodyPr wrap="square"/>
                    <a:lstStyle/>
                    <a:p>
                      <a:pPr algn="r"/>
                      <a:r>
                        <a:rPr sz="1050" b="0" i="0">
                          <a:solidFill>
                            <a:srgbClr val="0B0B0B"/>
                          </a:solidFill>
                          <a:latin typeface="Consolas"/>
                        </a:rPr>
                        <a:t>wz</a:t>
                      </a:r>
                    </a:p>
                  </a:txBody>
                  <a:tcPr marT="19050" marB="19050">
                    <a:solidFill>
                      <a:srgbClr val="FFFFFF"/>
                    </a:solidFill>
                  </a:tcPr>
                </a:tc>
                <a:tc>
                  <a:txBody>
                    <a:bodyPr wrap="square"/>
                    <a:lstStyle/>
                    <a:p>
                      <a:pPr algn="r"/>
                      <a:r>
                        <a:rPr sz="1050" b="0" i="0">
                          <a:solidFill>
                            <a:srgbClr val="0B0B0B"/>
                          </a:solidFill>
                          <a:latin typeface="Consolas"/>
                        </a:rPr>
                        <a:t>0.0100</a:t>
                      </a:r>
                    </a:p>
                  </a:txBody>
                  <a:tcPr marT="19050" marB="19050">
                    <a:solidFill>
                      <a:srgbClr val="FFFFFF"/>
                    </a:solidFill>
                  </a:tcPr>
                </a:tc>
                <a:tc>
                  <a:txBody>
                    <a:bodyPr wrap="square"/>
                    <a:lstStyle/>
                    <a:p>
                      <a:pPr algn="r"/>
                      <a:r>
                        <a:rPr sz="1050" b="0" i="0">
                          <a:solidFill>
                            <a:srgbClr val="0B0B0B"/>
                          </a:solidFill>
                          <a:latin typeface="Consolas"/>
                        </a:rPr>
                        <a:t>wz</a:t>
                      </a:r>
                    </a:p>
                  </a:txBody>
                  <a:tcPr marT="19050" marB="19050">
                    <a:solidFill>
                      <a:srgbClr val="FFFFFF"/>
                    </a:solidFill>
                  </a:tcPr>
                </a:tc>
                <a:tc>
                  <a:txBody>
                    <a:bodyPr wrap="square"/>
                    <a:lstStyle/>
                    <a:p>
                      <a:pPr algn="r"/>
                      <a:r>
                        <a:rPr sz="1050" b="0" i="0">
                          <a:solidFill>
                            <a:srgbClr val="0B0B0B"/>
                          </a:solidFill>
                          <a:latin typeface="Consolas"/>
                        </a:rPr>
                        <a:t>0.0125</a:t>
                      </a:r>
                    </a:p>
                  </a:txBody>
                  <a:tcPr marT="19050" marB="19050">
                    <a:solidFill>
                      <a:srgbClr val="FFFFFF"/>
                    </a:solidFill>
                  </a:tcPr>
                </a:tc>
              </a:tr>
            </a:tbl>
          </a:graphicData>
        </a:graphic>
      </p:graphicFrame>
      <p:sp>
        <p:nvSpPr>
          <p:cNvPr id="15" name="Oval 14"/>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90691"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4-CLASS VS. 10-CLASS COMPARISON</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08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Only the 10-class model has a trained HH4B output node</a:t>
            </a:r>
          </a:p>
        </p:txBody>
      </p:sp>
      <p:sp>
        <p:nvSpPr>
          <p:cNvPr id="6" name="Rounded Rectangle 5"/>
          <p:cNvSpPr/>
          <p:nvPr/>
        </p:nvSpPr>
        <p:spPr>
          <a:xfrm>
            <a:off x="457200" y="1554480"/>
            <a:ext cx="5943600" cy="4206240"/>
          </a:xfrm>
          <a:prstGeom prst="roundRect">
            <a:avLst>
              <a:gd name="adj" fmla="val 6000"/>
            </a:avLst>
          </a:prstGeom>
          <a:solidFill>
            <a:srgbClr val="FFFFFF"/>
          </a:solidFill>
          <a:ln w="9525">
            <a:solidFill>
              <a:srgbClr val="D8D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45920"/>
            <a:ext cx="5687568" cy="237744"/>
          </a:xfrm>
          <a:prstGeom prst="rect">
            <a:avLst/>
          </a:prstGeom>
          <a:noFill/>
        </p:spPr>
        <p:txBody>
          <a:bodyPr wrap="square">
            <a:spAutoFit/>
          </a:bodyPr>
          <a:lstStyle/>
          <a:p>
            <a:pPr algn="l"/>
            <a:r>
              <a:rPr sz="950" b="1" i="0" spc="90">
                <a:solidFill>
                  <a:srgbClr val="898781"/>
                </a:solidFill>
                <a:latin typeface="Segoe UI"/>
              </a:rPr>
              <a:t>4-CLASS MODEL (MINBIAS, QCD, DY, TOP) — CLASSIFIER RESPONSE</a:t>
            </a:r>
          </a:p>
        </p:txBody>
      </p:sp>
      <p:pic>
        <p:nvPicPr>
          <p:cNvPr id="8" name="Picture 7" descr="classifier_response_matrix.png"/>
          <p:cNvPicPr>
            <a:picLocks noChangeAspect="1"/>
          </p:cNvPicPr>
          <p:nvPr/>
        </p:nvPicPr>
        <p:blipFill>
          <a:blip r:embed="rId2"/>
          <a:stretch>
            <a:fillRect/>
          </a:stretch>
        </p:blipFill>
        <p:spPr>
          <a:xfrm>
            <a:off x="566928" y="1901952"/>
            <a:ext cx="5724144" cy="2862072"/>
          </a:xfrm>
          <a:prstGeom prst="rect">
            <a:avLst/>
          </a:prstGeom>
        </p:spPr>
      </p:pic>
      <p:sp>
        <p:nvSpPr>
          <p:cNvPr id="9" name="TextBox 8"/>
          <p:cNvSpPr txBox="1"/>
          <p:nvPr/>
        </p:nvSpPr>
        <p:spPr>
          <a:xfrm>
            <a:off x="585216" y="5504688"/>
            <a:ext cx="5687568" cy="219456"/>
          </a:xfrm>
          <a:prstGeom prst="rect">
            <a:avLst/>
          </a:prstGeom>
          <a:noFill/>
        </p:spPr>
        <p:txBody>
          <a:bodyPr wrap="square">
            <a:spAutoFit/>
          </a:bodyPr>
          <a:lstStyle/>
          <a:p>
            <a:pPr algn="ctr"/>
            <a:r>
              <a:rPr sz="750" b="0" i="0">
                <a:solidFill>
                  <a:srgbClr val="898781"/>
                </a:solidFill>
                <a:latin typeface="Segoe UI"/>
              </a:rPr>
              <a:t>runs/2026-08-06/fourclass_balanced_supcon005_var001_100k_latent128/figures/external_classifier_response/classifier_response_matrix.png</a:t>
            </a:r>
          </a:p>
        </p:txBody>
      </p:sp>
      <p:graphicFrame>
        <p:nvGraphicFramePr>
          <p:cNvPr id="10" name="Table 9"/>
          <p:cNvGraphicFramePr>
            <a:graphicFrameLocks noGrp="1"/>
          </p:cNvGraphicFramePr>
          <p:nvPr/>
        </p:nvGraphicFramePr>
        <p:xfrm>
          <a:off x="6675120" y="1554480"/>
          <a:ext cx="5074920" cy="1920240"/>
        </p:xfrm>
        <a:graphic>
          <a:graphicData uri="http://schemas.openxmlformats.org/drawingml/2006/table">
            <a:tbl>
              <a:tblPr>
                <a:tableStyleId>{5C22544A-7EE6-4342-B048-85BDC9FD1C3A}</a:tableStyleId>
              </a:tblPr>
              <a:tblGrid>
                <a:gridCol w="1005840"/>
                <a:gridCol w="1234440"/>
                <a:gridCol w="960120"/>
                <a:gridCol w="960120"/>
                <a:gridCol w="914400"/>
              </a:tblGrid>
              <a:tr h="384048">
                <a:tc>
                  <a:txBody>
                    <a:bodyPr wrap="square"/>
                    <a:lstStyle/>
                    <a:p>
                      <a:pPr algn="l"/>
                      <a:r>
                        <a:rPr sz="850" b="1" i="0" spc="40">
                          <a:solidFill>
                            <a:srgbClr val="898781"/>
                          </a:solidFill>
                          <a:latin typeface="Segoe UI"/>
                        </a:rPr>
                        <a:t>SIGNAL</a:t>
                      </a:r>
                    </a:p>
                  </a:txBody>
                  <a:tcPr marT="25400" marB="25400">
                    <a:solidFill>
                      <a:srgbClr val="FCFCFB"/>
                    </a:solidFill>
                  </a:tcPr>
                </a:tc>
                <a:tc>
                  <a:txBody>
                    <a:bodyPr wrap="square"/>
                    <a:lstStyle/>
                    <a:p>
                      <a:pPr algn="r"/>
                      <a:r>
                        <a:rPr sz="850" b="1" i="0" spc="40">
                          <a:solidFill>
                            <a:srgbClr val="898781"/>
                          </a:solidFill>
                          <a:latin typeface="Segoe UI"/>
                        </a:rPr>
                        <a:t>TOP MAPPED CLASS</a:t>
                      </a:r>
                    </a:p>
                  </a:txBody>
                  <a:tcPr marT="25400" marB="25400">
                    <a:solidFill>
                      <a:srgbClr val="FCFCFB"/>
                    </a:solidFill>
                  </a:tcPr>
                </a:tc>
                <a:tc>
                  <a:txBody>
                    <a:bodyPr wrap="square"/>
                    <a:lstStyle/>
                    <a:p>
                      <a:pPr algn="r"/>
                      <a:r>
                        <a:rPr sz="850" b="1" i="0" spc="40">
                          <a:solidFill>
                            <a:srgbClr val="898781"/>
                          </a:solidFill>
                          <a:latin typeface="Segoe UI"/>
                        </a:rPr>
                        <a:t>TOP FRACTION</a:t>
                      </a:r>
                    </a:p>
                  </a:txBody>
                  <a:tcPr marT="25400" marB="25400">
                    <a:solidFill>
                      <a:srgbClr val="FCFCFB"/>
                    </a:solidFill>
                  </a:tcPr>
                </a:tc>
                <a:tc>
                  <a:txBody>
                    <a:bodyPr wrap="square"/>
                    <a:lstStyle/>
                    <a:p>
                      <a:pPr algn="r"/>
                      <a:r>
                        <a:rPr sz="850" b="1" i="0" spc="40">
                          <a:solidFill>
                            <a:srgbClr val="898781"/>
                          </a:solidFill>
                          <a:latin typeface="Segoe UI"/>
                        </a:rPr>
                        <a:t>HH4B TAG RATE</a:t>
                      </a:r>
                    </a:p>
                  </a:txBody>
                  <a:tcPr marT="25400" marB="25400">
                    <a:solidFill>
                      <a:srgbClr val="FCFCFB"/>
                    </a:solidFill>
                  </a:tcPr>
                </a:tc>
                <a:tc>
                  <a:txBody>
                    <a:bodyPr wrap="square"/>
                    <a:lstStyle/>
                    <a:p>
                      <a:pPr algn="r"/>
                      <a:r>
                        <a:rPr sz="850" b="1" i="0" spc="40">
                          <a:solidFill>
                            <a:srgbClr val="898781"/>
                          </a:solidFill>
                          <a:latin typeface="Segoe UI"/>
                        </a:rPr>
                        <a:t>MEAN HH4B PROB.</a:t>
                      </a:r>
                    </a:p>
                  </a:txBody>
                  <a:tcPr marT="25400" marB="25400">
                    <a:solidFill>
                      <a:srgbClr val="FCFCFB"/>
                    </a:solidFill>
                  </a:tcPr>
                </a:tc>
              </a:tr>
              <a:tr h="384048">
                <a:tc>
                  <a:txBody>
                    <a:bodyPr wrap="square"/>
                    <a:lstStyle/>
                    <a:p>
                      <a:pPr algn="l"/>
                      <a:r>
                        <a:rPr sz="950" b="0" i="0">
                          <a:solidFill>
                            <a:srgbClr val="0B0B0B"/>
                          </a:solidFill>
                          <a:latin typeface="Segoe UI"/>
                        </a:rPr>
                        <a:t>hh4b</a:t>
                      </a:r>
                    </a:p>
                  </a:txBody>
                  <a:tcPr marT="19050" marB="19050">
                    <a:solidFill>
                      <a:srgbClr val="FFFFFF"/>
                    </a:solidFill>
                  </a:tcPr>
                </a:tc>
                <a:tc>
                  <a:txBody>
                    <a:bodyPr wrap="square"/>
                    <a:lstStyle/>
                    <a:p>
                      <a:pPr algn="r"/>
                      <a:r>
                        <a:rPr sz="950" b="0" i="0">
                          <a:solidFill>
                            <a:srgbClr val="0B0B0B"/>
                          </a:solidFill>
                          <a:latin typeface="Consolas"/>
                        </a:rPr>
                        <a:t>top</a:t>
                      </a:r>
                    </a:p>
                  </a:txBody>
                  <a:tcPr marT="19050" marB="19050">
                    <a:solidFill>
                      <a:srgbClr val="FFFFFF"/>
                    </a:solidFill>
                  </a:tcPr>
                </a:tc>
                <a:tc>
                  <a:txBody>
                    <a:bodyPr wrap="square"/>
                    <a:lstStyle/>
                    <a:p>
                      <a:pPr algn="r"/>
                      <a:r>
                        <a:rPr sz="950" b="0" i="0">
                          <a:solidFill>
                            <a:srgbClr val="0B0B0B"/>
                          </a:solidFill>
                          <a:latin typeface="Consolas"/>
                        </a:rPr>
                        <a:t>0.9400</a:t>
                      </a:r>
                    </a:p>
                  </a:txBody>
                  <a:tcPr marT="19050" marB="19050">
                    <a:solidFill>
                      <a:srgbClr val="FFFFFF"/>
                    </a:solidFill>
                  </a:tcPr>
                </a:tc>
                <a:tc>
                  <a:txBody>
                    <a:bodyPr wrap="square"/>
                    <a:lstStyle/>
                    <a:p>
                      <a:pPr algn="r"/>
                      <a:r>
                        <a:rPr sz="950" b="0" i="1">
                          <a:solidFill>
                            <a:srgbClr val="AFAEA8"/>
                          </a:solidFill>
                          <a:latin typeface="Consolas"/>
                        </a:rPr>
                        <a:t>not available</a:t>
                      </a:r>
                    </a:p>
                  </a:txBody>
                  <a:tcPr marT="19050" marB="19050">
                    <a:solidFill>
                      <a:srgbClr val="FFFFFF"/>
                    </a:solidFill>
                  </a:tcPr>
                </a:tc>
                <a:tc>
                  <a:txBody>
                    <a:bodyPr wrap="square"/>
                    <a:lstStyle/>
                    <a:p>
                      <a:pPr algn="r"/>
                      <a:r>
                        <a:rPr sz="950" b="0" i="1">
                          <a:solidFill>
                            <a:srgbClr val="AFAEA8"/>
                          </a:solidFill>
                          <a:latin typeface="Consolas"/>
                        </a:rPr>
                        <a:t>not available</a:t>
                      </a:r>
                    </a:p>
                  </a:txBody>
                  <a:tcPr marT="19050" marB="19050">
                    <a:solidFill>
                      <a:srgbClr val="FFFFFF"/>
                    </a:solidFill>
                  </a:tcPr>
                </a:tc>
              </a:tr>
              <a:tr h="384048">
                <a:tc>
                  <a:txBody>
                    <a:bodyPr wrap="square"/>
                    <a:lstStyle/>
                    <a:p>
                      <a:pPr algn="l"/>
                      <a:r>
                        <a:rPr sz="950" b="0" i="0">
                          <a:solidFill>
                            <a:srgbClr val="0B0B0B"/>
                          </a:solidFill>
                          <a:latin typeface="Segoe UI"/>
                        </a:rPr>
                        <a:t>hh</a:t>
                      </a:r>
                    </a:p>
                  </a:txBody>
                  <a:tcPr marT="19050" marB="19050">
                    <a:solidFill>
                      <a:srgbClr val="FFFFFF"/>
                    </a:solidFill>
                  </a:tcPr>
                </a:tc>
                <a:tc>
                  <a:txBody>
                    <a:bodyPr wrap="square"/>
                    <a:lstStyle/>
                    <a:p>
                      <a:pPr algn="r"/>
                      <a:r>
                        <a:rPr sz="950" b="0" i="0">
                          <a:solidFill>
                            <a:srgbClr val="0B0B0B"/>
                          </a:solidFill>
                          <a:latin typeface="Consolas"/>
                        </a:rPr>
                        <a:t>top</a:t>
                      </a:r>
                    </a:p>
                  </a:txBody>
                  <a:tcPr marT="19050" marB="19050">
                    <a:solidFill>
                      <a:srgbClr val="FFFFFF"/>
                    </a:solidFill>
                  </a:tcPr>
                </a:tc>
                <a:tc>
                  <a:txBody>
                    <a:bodyPr wrap="square"/>
                    <a:lstStyle/>
                    <a:p>
                      <a:pPr algn="r"/>
                      <a:r>
                        <a:rPr sz="950" b="0" i="0">
                          <a:solidFill>
                            <a:srgbClr val="0B0B0B"/>
                          </a:solidFill>
                          <a:latin typeface="Consolas"/>
                        </a:rPr>
                        <a:t>0.8350</a:t>
                      </a:r>
                    </a:p>
                  </a:txBody>
                  <a:tcPr marT="19050" marB="19050">
                    <a:solidFill>
                      <a:srgbClr val="FFFFFF"/>
                    </a:solidFill>
                  </a:tcPr>
                </a:tc>
                <a:tc>
                  <a:txBody>
                    <a:bodyPr wrap="square"/>
                    <a:lstStyle/>
                    <a:p>
                      <a:pPr algn="r"/>
                      <a:r>
                        <a:rPr sz="950" b="0" i="1">
                          <a:solidFill>
                            <a:srgbClr val="AFAEA8"/>
                          </a:solidFill>
                          <a:latin typeface="Consolas"/>
                        </a:rPr>
                        <a:t>not available</a:t>
                      </a:r>
                    </a:p>
                  </a:txBody>
                  <a:tcPr marT="19050" marB="19050">
                    <a:solidFill>
                      <a:srgbClr val="FFFFFF"/>
                    </a:solidFill>
                  </a:tcPr>
                </a:tc>
                <a:tc>
                  <a:txBody>
                    <a:bodyPr wrap="square"/>
                    <a:lstStyle/>
                    <a:p>
                      <a:pPr algn="r"/>
                      <a:r>
                        <a:rPr sz="950" b="0" i="1">
                          <a:solidFill>
                            <a:srgbClr val="AFAEA8"/>
                          </a:solidFill>
                          <a:latin typeface="Consolas"/>
                        </a:rPr>
                        <a:t>not available</a:t>
                      </a:r>
                    </a:p>
                  </a:txBody>
                  <a:tcPr marT="19050" marB="19050">
                    <a:solidFill>
                      <a:srgbClr val="FFFFFF"/>
                    </a:solidFill>
                  </a:tcPr>
                </a:tc>
              </a:tr>
              <a:tr h="384048">
                <a:tc>
                  <a:txBody>
                    <a:bodyPr wrap="square"/>
                    <a:lstStyle/>
                    <a:p>
                      <a:pPr algn="l"/>
                      <a:r>
                        <a:rPr sz="950" b="0" i="0">
                          <a:solidFill>
                            <a:srgbClr val="0B0B0B"/>
                          </a:solidFill>
                          <a:latin typeface="Segoe UI"/>
                        </a:rPr>
                        <a:t>vbfh</a:t>
                      </a:r>
                    </a:p>
                  </a:txBody>
                  <a:tcPr marT="19050" marB="19050">
                    <a:solidFill>
                      <a:srgbClr val="FFFFFF"/>
                    </a:solidFill>
                  </a:tcPr>
                </a:tc>
                <a:tc>
                  <a:txBody>
                    <a:bodyPr wrap="square"/>
                    <a:lstStyle/>
                    <a:p>
                      <a:pPr algn="r"/>
                      <a:r>
                        <a:rPr sz="950" b="0" i="0">
                          <a:solidFill>
                            <a:srgbClr val="0B0B0B"/>
                          </a:solidFill>
                          <a:latin typeface="Consolas"/>
                        </a:rPr>
                        <a:t>top</a:t>
                      </a:r>
                    </a:p>
                  </a:txBody>
                  <a:tcPr marT="19050" marB="19050">
                    <a:solidFill>
                      <a:srgbClr val="FFFFFF"/>
                    </a:solidFill>
                  </a:tcPr>
                </a:tc>
                <a:tc>
                  <a:txBody>
                    <a:bodyPr wrap="square"/>
                    <a:lstStyle/>
                    <a:p>
                      <a:pPr algn="r"/>
                      <a:r>
                        <a:rPr sz="950" b="0" i="0">
                          <a:solidFill>
                            <a:srgbClr val="0B0B0B"/>
                          </a:solidFill>
                          <a:latin typeface="Consolas"/>
                        </a:rPr>
                        <a:t>0.4850</a:t>
                      </a:r>
                    </a:p>
                  </a:txBody>
                  <a:tcPr marT="19050" marB="19050">
                    <a:solidFill>
                      <a:srgbClr val="FFFFFF"/>
                    </a:solidFill>
                  </a:tcPr>
                </a:tc>
                <a:tc>
                  <a:txBody>
                    <a:bodyPr wrap="square"/>
                    <a:lstStyle/>
                    <a:p>
                      <a:pPr algn="r"/>
                      <a:r>
                        <a:rPr sz="950" b="0" i="1">
                          <a:solidFill>
                            <a:srgbClr val="AFAEA8"/>
                          </a:solidFill>
                          <a:latin typeface="Consolas"/>
                        </a:rPr>
                        <a:t>not available</a:t>
                      </a:r>
                    </a:p>
                  </a:txBody>
                  <a:tcPr marT="19050" marB="19050">
                    <a:solidFill>
                      <a:srgbClr val="FFFFFF"/>
                    </a:solidFill>
                  </a:tcPr>
                </a:tc>
                <a:tc>
                  <a:txBody>
                    <a:bodyPr wrap="square"/>
                    <a:lstStyle/>
                    <a:p>
                      <a:pPr algn="r"/>
                      <a:r>
                        <a:rPr sz="950" b="0" i="1">
                          <a:solidFill>
                            <a:srgbClr val="AFAEA8"/>
                          </a:solidFill>
                          <a:latin typeface="Consolas"/>
                        </a:rPr>
                        <a:t>not available</a:t>
                      </a:r>
                    </a:p>
                  </a:txBody>
                  <a:tcPr marT="19050" marB="19050">
                    <a:solidFill>
                      <a:srgbClr val="FFFFFF"/>
                    </a:solidFill>
                  </a:tcPr>
                </a:tc>
              </a:tr>
              <a:tr h="384048">
                <a:tc>
                  <a:txBody>
                    <a:bodyPr wrap="square"/>
                    <a:lstStyle/>
                    <a:p>
                      <a:pPr algn="l"/>
                      <a:r>
                        <a:rPr sz="950" b="0" i="0">
                          <a:solidFill>
                            <a:srgbClr val="0B0B0B"/>
                          </a:solidFill>
                          <a:latin typeface="Segoe UI"/>
                        </a:rPr>
                        <a:t>ggh</a:t>
                      </a:r>
                    </a:p>
                  </a:txBody>
                  <a:tcPr marT="19050" marB="19050">
                    <a:solidFill>
                      <a:srgbClr val="FFFFFF"/>
                    </a:solidFill>
                  </a:tcPr>
                </a:tc>
                <a:tc>
                  <a:txBody>
                    <a:bodyPr wrap="square"/>
                    <a:lstStyle/>
                    <a:p>
                      <a:pPr algn="r"/>
                      <a:r>
                        <a:rPr sz="950" b="0" i="0">
                          <a:solidFill>
                            <a:srgbClr val="0B0B0B"/>
                          </a:solidFill>
                          <a:latin typeface="Consolas"/>
                        </a:rPr>
                        <a:t>qcd</a:t>
                      </a:r>
                    </a:p>
                  </a:txBody>
                  <a:tcPr marT="19050" marB="19050">
                    <a:solidFill>
                      <a:srgbClr val="FFFFFF"/>
                    </a:solidFill>
                  </a:tcPr>
                </a:tc>
                <a:tc>
                  <a:txBody>
                    <a:bodyPr wrap="square"/>
                    <a:lstStyle/>
                    <a:p>
                      <a:pPr algn="r"/>
                      <a:r>
                        <a:rPr sz="950" b="0" i="0">
                          <a:solidFill>
                            <a:srgbClr val="0B0B0B"/>
                          </a:solidFill>
                          <a:latin typeface="Consolas"/>
                        </a:rPr>
                        <a:t>0.4125</a:t>
                      </a:r>
                    </a:p>
                  </a:txBody>
                  <a:tcPr marT="19050" marB="19050">
                    <a:solidFill>
                      <a:srgbClr val="FFFFFF"/>
                    </a:solidFill>
                  </a:tcPr>
                </a:tc>
                <a:tc>
                  <a:txBody>
                    <a:bodyPr wrap="square"/>
                    <a:lstStyle/>
                    <a:p>
                      <a:pPr algn="r"/>
                      <a:r>
                        <a:rPr sz="950" b="0" i="1">
                          <a:solidFill>
                            <a:srgbClr val="AFAEA8"/>
                          </a:solidFill>
                          <a:latin typeface="Consolas"/>
                        </a:rPr>
                        <a:t>not available</a:t>
                      </a:r>
                    </a:p>
                  </a:txBody>
                  <a:tcPr marT="19050" marB="19050">
                    <a:solidFill>
                      <a:srgbClr val="FFFFFF"/>
                    </a:solidFill>
                  </a:tcPr>
                </a:tc>
                <a:tc>
                  <a:txBody>
                    <a:bodyPr wrap="square"/>
                    <a:lstStyle/>
                    <a:p>
                      <a:pPr algn="r"/>
                      <a:r>
                        <a:rPr sz="950" b="0" i="1">
                          <a:solidFill>
                            <a:srgbClr val="AFAEA8"/>
                          </a:solidFill>
                          <a:latin typeface="Consolas"/>
                        </a:rPr>
                        <a:t>not available</a:t>
                      </a:r>
                    </a:p>
                  </a:txBody>
                  <a:tcPr marT="19050" marB="19050">
                    <a:solidFill>
                      <a:srgbClr val="FFFFFF"/>
                    </a:solidFill>
                  </a:tcPr>
                </a:tc>
              </a:tr>
            </a:tbl>
          </a:graphicData>
        </a:graphic>
      </p:graphicFrame>
      <p:sp>
        <p:nvSpPr>
          <p:cNvPr id="11" name="TextBox 10"/>
          <p:cNvSpPr txBox="1"/>
          <p:nvPr/>
        </p:nvSpPr>
        <p:spPr>
          <a:xfrm>
            <a:off x="6675120" y="3657600"/>
            <a:ext cx="5074920" cy="2103120"/>
          </a:xfrm>
          <a:prstGeom prst="rect">
            <a:avLst/>
          </a:prstGeom>
          <a:noFill/>
        </p:spPr>
        <p:txBody>
          <a:bodyPr wrap="square">
            <a:spAutoFit/>
          </a:bodyPr>
          <a:lstStyle/>
          <a:p>
            <a:pPr>
              <a:lnSpc>
                <a:spcPct val="110000"/>
              </a:lnSpc>
              <a:spcAft>
                <a:spcPts val="800"/>
              </a:spcAft>
            </a:pPr>
            <a:r>
              <a:rPr sz="650" b="0" i="0">
                <a:solidFill>
                  <a:srgbClr val="2A78D6"/>
                </a:solidFill>
                <a:latin typeface="Segoe UI"/>
              </a:rPr>
              <a:t>●   </a:t>
            </a:r>
            <a:r>
              <a:rPr sz="1150" b="0" i="0">
                <a:solidFill>
                  <a:srgbClr val="0B0B0B"/>
                </a:solidFill>
                <a:latin typeface="Segoe UI"/>
              </a:rPr>
              <a:t>The 4-class model is trained only on minbias, qcd, dy, top — it has no HH4B output node.</a:t>
            </a:r>
          </a:p>
          <a:p>
            <a:pPr>
              <a:lnSpc>
                <a:spcPct val="110000"/>
              </a:lnSpc>
              <a:spcAft>
                <a:spcPts val="800"/>
              </a:spcAft>
            </a:pPr>
            <a:r>
              <a:rPr sz="650" b="0" i="0">
                <a:solidFill>
                  <a:srgbClr val="2A78D6"/>
                </a:solidFill>
                <a:latin typeface="Segoe UI"/>
              </a:rPr>
              <a:t>●   </a:t>
            </a:r>
            <a:r>
              <a:rPr sz="1150" b="0" i="0">
                <a:solidFill>
                  <a:srgbClr val="0B0B0B"/>
                </a:solidFill>
                <a:latin typeface="Segoe UI"/>
              </a:rPr>
              <a:t>HH4B, HH, and VBFH are all mostly mapped into Top; ggH mostly into QCD.</a:t>
            </a:r>
          </a:p>
          <a:p>
            <a:pPr>
              <a:lnSpc>
                <a:spcPct val="110000"/>
              </a:lnSpc>
              <a:spcAft>
                <a:spcPts val="800"/>
              </a:spcAft>
            </a:pPr>
            <a:r>
              <a:rPr sz="650" b="0" i="0">
                <a:solidFill>
                  <a:srgbClr val="2A78D6"/>
                </a:solidFill>
                <a:latin typeface="Segoe UI"/>
              </a:rPr>
              <a:t>●   </a:t>
            </a:r>
            <a:r>
              <a:rPr sz="1150" b="1" i="0">
                <a:solidFill>
                  <a:srgbClr val="0B0B0B"/>
                </a:solidFill>
                <a:latin typeface="Segoe UI"/>
              </a:rPr>
              <a:t>The 10-class model</a:t>
            </a:r>
            <a:r>
              <a:rPr sz="1150" b="0" i="0">
                <a:solidFill>
                  <a:srgbClr val="0B0B0B"/>
                </a:solidFill>
                <a:latin typeface="Segoe UI"/>
              </a:rPr>
              <a:t> can directly test whether HH-like signals activate an HH4B output; the 4-class model structurally cannot.</a:t>
            </a:r>
          </a:p>
        </p:txBody>
      </p:sp>
      <p:sp>
        <p:nvSpPr>
          <p:cNvPr id="12" name="TextBox 11"/>
          <p:cNvSpPr txBox="1"/>
          <p:nvPr/>
        </p:nvSpPr>
        <p:spPr>
          <a:xfrm>
            <a:off x="6675120" y="5943600"/>
            <a:ext cx="5074920" cy="548640"/>
          </a:xfrm>
          <a:prstGeom prst="rect">
            <a:avLst/>
          </a:prstGeom>
          <a:noFill/>
        </p:spPr>
        <p:txBody>
          <a:bodyPr wrap="square">
            <a:spAutoFit/>
          </a:bodyPr>
          <a:lstStyle/>
          <a:p>
            <a:pPr algn="l"/>
            <a:r>
              <a:rPr sz="900" b="0" i="1">
                <a:solidFill>
                  <a:srgbClr val="898781"/>
                </a:solidFill>
                <a:latin typeface="Segoe UI"/>
              </a:rPr>
              <a:t>Also see: .../fourclass_.../figures/external_classifier_response/classifier_mean_probability_matrix.png</a:t>
            </a:r>
          </a:p>
        </p:txBody>
      </p:sp>
      <p:sp>
        <p:nvSpPr>
          <p:cNvPr id="13" name="Oval 12"/>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118707"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ANOMALY SCORE VIEW</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09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Classifier response and anomaly score can disagree</a:t>
            </a:r>
          </a:p>
        </p:txBody>
      </p:sp>
      <p:sp>
        <p:nvSpPr>
          <p:cNvPr id="6" name="Rounded Rectangle 5"/>
          <p:cNvSpPr/>
          <p:nvPr/>
        </p:nvSpPr>
        <p:spPr>
          <a:xfrm>
            <a:off x="457200" y="1554480"/>
            <a:ext cx="3611880" cy="4114800"/>
          </a:xfrm>
          <a:prstGeom prst="roundRect">
            <a:avLst>
              <a:gd name="adj" fmla="val 6000"/>
            </a:avLst>
          </a:prstGeom>
          <a:solidFill>
            <a:srgbClr val="FFFFFF"/>
          </a:solidFill>
          <a:ln w="9525">
            <a:solidFill>
              <a:srgbClr val="D8D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45920"/>
            <a:ext cx="3355848" cy="237744"/>
          </a:xfrm>
          <a:prstGeom prst="rect">
            <a:avLst/>
          </a:prstGeom>
          <a:noFill/>
        </p:spPr>
        <p:txBody>
          <a:bodyPr wrap="square">
            <a:spAutoFit/>
          </a:bodyPr>
          <a:lstStyle/>
          <a:p>
            <a:pPr algn="l"/>
            <a:r>
              <a:rPr sz="950" b="1" i="0" spc="90">
                <a:solidFill>
                  <a:srgbClr val="898781"/>
                </a:solidFill>
                <a:latin typeface="Segoe UI"/>
              </a:rPr>
              <a:t>EVAL-QUALITY SCORE</a:t>
            </a:r>
          </a:p>
        </p:txBody>
      </p:sp>
      <p:pic>
        <p:nvPicPr>
          <p:cNvPr id="8" name="Picture 7" descr="external_higgs_eval_quality_score.png"/>
          <p:cNvPicPr>
            <a:picLocks noChangeAspect="1"/>
          </p:cNvPicPr>
          <p:nvPr/>
        </p:nvPicPr>
        <p:blipFill>
          <a:blip r:embed="rId2"/>
          <a:stretch>
            <a:fillRect/>
          </a:stretch>
        </p:blipFill>
        <p:spPr>
          <a:xfrm>
            <a:off x="566928" y="1901952"/>
            <a:ext cx="3392424" cy="1789387"/>
          </a:xfrm>
          <a:prstGeom prst="rect">
            <a:avLst/>
          </a:prstGeom>
        </p:spPr>
      </p:pic>
      <p:sp>
        <p:nvSpPr>
          <p:cNvPr id="9" name="TextBox 8"/>
          <p:cNvSpPr txBox="1"/>
          <p:nvPr/>
        </p:nvSpPr>
        <p:spPr>
          <a:xfrm>
            <a:off x="585216" y="5413248"/>
            <a:ext cx="3355848" cy="219456"/>
          </a:xfrm>
          <a:prstGeom prst="rect">
            <a:avLst/>
          </a:prstGeom>
          <a:noFill/>
        </p:spPr>
        <p:txBody>
          <a:bodyPr wrap="square">
            <a:spAutoFit/>
          </a:bodyPr>
          <a:lstStyle/>
          <a:p>
            <a:pPr algn="ctr"/>
            <a:r>
              <a:rPr sz="750" b="0" i="0">
                <a:solidFill>
                  <a:srgbClr val="898781"/>
                </a:solidFill>
                <a:latin typeface="Segoe UI"/>
              </a:rPr>
              <a:t>analysis/figures/external_higgs_signal_eval/external_higgs_eval_quality_score.png</a:t>
            </a:r>
          </a:p>
        </p:txBody>
      </p:sp>
      <p:sp>
        <p:nvSpPr>
          <p:cNvPr id="10" name="Rounded Rectangle 9"/>
          <p:cNvSpPr/>
          <p:nvPr/>
        </p:nvSpPr>
        <p:spPr>
          <a:xfrm>
            <a:off x="4206240" y="1554480"/>
            <a:ext cx="3611880" cy="4114800"/>
          </a:xfrm>
          <a:prstGeom prst="roundRect">
            <a:avLst>
              <a:gd name="adj" fmla="val 6000"/>
            </a:avLst>
          </a:prstGeom>
          <a:solidFill>
            <a:srgbClr val="FFFFFF"/>
          </a:solidFill>
          <a:ln w="9525">
            <a:solidFill>
              <a:srgbClr val="D8D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4256" y="1645920"/>
            <a:ext cx="3355848" cy="237744"/>
          </a:xfrm>
          <a:prstGeom prst="rect">
            <a:avLst/>
          </a:prstGeom>
          <a:noFill/>
        </p:spPr>
        <p:txBody>
          <a:bodyPr wrap="square">
            <a:spAutoFit/>
          </a:bodyPr>
          <a:lstStyle/>
          <a:p>
            <a:pPr algn="l"/>
            <a:r>
              <a:rPr sz="950" b="1" i="0" spc="90">
                <a:solidFill>
                  <a:srgbClr val="898781"/>
                </a:solidFill>
                <a:latin typeface="Segoe UI"/>
              </a:rPr>
              <a:t>MAHALANOBIS DISTANCE</a:t>
            </a:r>
          </a:p>
        </p:txBody>
      </p:sp>
      <p:pic>
        <p:nvPicPr>
          <p:cNvPr id="12" name="Picture 11" descr="external_higgs_mahalanobis.png"/>
          <p:cNvPicPr>
            <a:picLocks noChangeAspect="1"/>
          </p:cNvPicPr>
          <p:nvPr/>
        </p:nvPicPr>
        <p:blipFill>
          <a:blip r:embed="rId3"/>
          <a:stretch>
            <a:fillRect/>
          </a:stretch>
        </p:blipFill>
        <p:spPr>
          <a:xfrm>
            <a:off x="4315968" y="1901952"/>
            <a:ext cx="3392424" cy="1789387"/>
          </a:xfrm>
          <a:prstGeom prst="rect">
            <a:avLst/>
          </a:prstGeom>
        </p:spPr>
      </p:pic>
      <p:sp>
        <p:nvSpPr>
          <p:cNvPr id="13" name="TextBox 12"/>
          <p:cNvSpPr txBox="1"/>
          <p:nvPr/>
        </p:nvSpPr>
        <p:spPr>
          <a:xfrm>
            <a:off x="4334256" y="5413248"/>
            <a:ext cx="3355848" cy="219456"/>
          </a:xfrm>
          <a:prstGeom prst="rect">
            <a:avLst/>
          </a:prstGeom>
          <a:noFill/>
        </p:spPr>
        <p:txBody>
          <a:bodyPr wrap="square">
            <a:spAutoFit/>
          </a:bodyPr>
          <a:lstStyle/>
          <a:p>
            <a:pPr algn="ctr"/>
            <a:r>
              <a:rPr sz="750" b="0" i="0">
                <a:solidFill>
                  <a:srgbClr val="898781"/>
                </a:solidFill>
                <a:latin typeface="Segoe UI"/>
              </a:rPr>
              <a:t>analysis/figures/external_higgs_signal_eval/external_higgs_mahalanobis.png</a:t>
            </a:r>
          </a:p>
        </p:txBody>
      </p:sp>
      <p:sp>
        <p:nvSpPr>
          <p:cNvPr id="14" name="TextBox 13"/>
          <p:cNvSpPr txBox="1"/>
          <p:nvPr/>
        </p:nvSpPr>
        <p:spPr>
          <a:xfrm>
            <a:off x="8001000" y="1600200"/>
            <a:ext cx="3749039" cy="4114800"/>
          </a:xfrm>
          <a:prstGeom prst="rect">
            <a:avLst/>
          </a:prstGeom>
          <a:noFill/>
        </p:spPr>
        <p:txBody>
          <a:bodyPr wrap="square">
            <a:spAutoFit/>
          </a:bodyPr>
          <a:lstStyle/>
          <a:p>
            <a:pPr>
              <a:lnSpc>
                <a:spcPct val="110000"/>
              </a:lnSpc>
              <a:spcAft>
                <a:spcPts val="800"/>
              </a:spcAft>
            </a:pPr>
            <a:r>
              <a:rPr sz="600" b="0" i="0">
                <a:solidFill>
                  <a:srgbClr val="2A78D6"/>
                </a:solidFill>
                <a:latin typeface="Segoe UI"/>
              </a:rPr>
              <a:t>●   </a:t>
            </a:r>
            <a:r>
              <a:rPr sz="1100" b="0" i="0">
                <a:solidFill>
                  <a:srgbClr val="0B0B0B"/>
                </a:solidFill>
                <a:latin typeface="Segoe UI"/>
              </a:rPr>
              <a:t>The anomaly score is evaluated through latent-space geometry (Mahalanobis distance, GMM gap, composite eval-quality).</a:t>
            </a:r>
          </a:p>
          <a:p>
            <a:pPr>
              <a:lnSpc>
                <a:spcPct val="110000"/>
              </a:lnSpc>
              <a:spcAft>
                <a:spcPts val="800"/>
              </a:spcAft>
            </a:pPr>
            <a:r>
              <a:rPr sz="600" b="0" i="0">
                <a:solidFill>
                  <a:srgbClr val="2A78D6"/>
                </a:solidFill>
                <a:latin typeface="Segoe UI"/>
              </a:rPr>
              <a:t>●   </a:t>
            </a:r>
            <a:r>
              <a:rPr sz="1100" b="1" i="0">
                <a:solidFill>
                  <a:srgbClr val="0B0B0B"/>
                </a:solidFill>
                <a:latin typeface="Segoe UI"/>
              </a:rPr>
              <a:t>hh4b eval-quality</a:t>
            </a:r>
            <a:r>
              <a:rPr sz="1100" b="0" i="0">
                <a:solidFill>
                  <a:srgbClr val="0B0B0B"/>
                </a:solidFill>
                <a:latin typeface="Segoe UI"/>
              </a:rPr>
              <a:t>: 0.306 (balanced) vs. 0.0036 (anomaly-oriented) — despite its name, the anomaly-oriented model scores trained HH4B lower on this composite metric.</a:t>
            </a:r>
          </a:p>
          <a:p>
            <a:pPr>
              <a:lnSpc>
                <a:spcPct val="110000"/>
              </a:lnSpc>
              <a:spcAft>
                <a:spcPts val="800"/>
              </a:spcAft>
            </a:pPr>
            <a:r>
              <a:rPr sz="600" b="0" i="0">
                <a:solidFill>
                  <a:srgbClr val="2A78D6"/>
                </a:solidFill>
                <a:latin typeface="Segoe UI"/>
              </a:rPr>
              <a:t>●   </a:t>
            </a:r>
            <a:r>
              <a:rPr sz="1100" b="1" i="0">
                <a:solidFill>
                  <a:srgbClr val="0B0B0B"/>
                </a:solidFill>
                <a:latin typeface="Segoe UI"/>
              </a:rPr>
              <a:t>ggh Mahalanobis</a:t>
            </a:r>
            <a:r>
              <a:rPr sz="1100" b="0" i="0">
                <a:solidFill>
                  <a:srgbClr val="0B0B0B"/>
                </a:solidFill>
                <a:latin typeface="Segoe UI"/>
              </a:rPr>
              <a:t>: 9.06×10⁵ under the anomaly-oriented model — far larger distance from background than any other signal/model pair.</a:t>
            </a:r>
          </a:p>
          <a:p>
            <a:pPr>
              <a:lnSpc>
                <a:spcPct val="110000"/>
              </a:lnSpc>
              <a:spcAft>
                <a:spcPts val="800"/>
              </a:spcAft>
            </a:pPr>
            <a:r>
              <a:rPr sz="600" b="0" i="0">
                <a:solidFill>
                  <a:srgbClr val="2A78D6"/>
                </a:solidFill>
                <a:latin typeface="Segoe UI"/>
              </a:rPr>
              <a:t>●   </a:t>
            </a:r>
            <a:r>
              <a:rPr sz="1100" b="0" i="0">
                <a:solidFill>
                  <a:srgbClr val="0B0B0B"/>
                </a:solidFill>
                <a:latin typeface="Segoe UI"/>
              </a:rPr>
              <a:t>This disagreement is exactly why classifier response alone is not enough for an anomaly-detection project.</a:t>
            </a:r>
          </a:p>
        </p:txBody>
      </p:sp>
      <p:sp>
        <p:nvSpPr>
          <p:cNvPr id="15" name="TextBox 14"/>
          <p:cNvSpPr txBox="1"/>
          <p:nvPr/>
        </p:nvSpPr>
        <p:spPr>
          <a:xfrm>
            <a:off x="457200" y="5806440"/>
            <a:ext cx="11292840" cy="457200"/>
          </a:xfrm>
          <a:prstGeom prst="rect">
            <a:avLst/>
          </a:prstGeom>
          <a:noFill/>
        </p:spPr>
        <p:txBody>
          <a:bodyPr wrap="square">
            <a:spAutoFit/>
          </a:bodyPr>
          <a:lstStyle/>
          <a:p>
            <a:pPr algn="ctr"/>
            <a:r>
              <a:rPr sz="900" b="0" i="1">
                <a:solidFill>
                  <a:srgbClr val="898781"/>
                </a:solidFill>
                <a:latin typeface="Segoe UI"/>
              </a:rPr>
              <a:t>Also available: external_higgs_gmm_gap_log.png, external_higgs_eval_quality_subscores_heatmap.png (analysis/figures/external_higgs_signal_eval/)</a:t>
            </a:r>
          </a:p>
        </p:txBody>
      </p:sp>
      <p:sp>
        <p:nvSpPr>
          <p:cNvPr id="16" name="Oval 15"/>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46723"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VICREG-STYLE EXPLORATORY TEST</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10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Promising for trained HH4B, not yet for external signals</a:t>
            </a:r>
          </a:p>
        </p:txBody>
      </p:sp>
      <p:graphicFrame>
        <p:nvGraphicFramePr>
          <p:cNvPr id="6" name="Table 5"/>
          <p:cNvGraphicFramePr>
            <a:graphicFrameLocks noGrp="1"/>
          </p:cNvGraphicFramePr>
          <p:nvPr/>
        </p:nvGraphicFramePr>
        <p:xfrm>
          <a:off x="457200" y="1600200"/>
          <a:ext cx="5577840" cy="3383280"/>
        </p:xfrm>
        <a:graphic>
          <a:graphicData uri="http://schemas.openxmlformats.org/drawingml/2006/table">
            <a:tbl>
              <a:tblPr>
                <a:tableStyleId>{5C22544A-7EE6-4342-B048-85BDC9FD1C3A}</a:tableStyleId>
              </a:tblPr>
              <a:tblGrid>
                <a:gridCol w="2743200"/>
                <a:gridCol w="1417320"/>
                <a:gridCol w="1417320"/>
              </a:tblGrid>
              <a:tr h="422910">
                <a:tc>
                  <a:txBody>
                    <a:bodyPr wrap="square"/>
                    <a:lstStyle/>
                    <a:p>
                      <a:pPr algn="l"/>
                      <a:r>
                        <a:rPr sz="850" b="1" i="0" spc="40">
                          <a:solidFill>
                            <a:srgbClr val="898781"/>
                          </a:solidFill>
                          <a:latin typeface="Segoe UI"/>
                        </a:rPr>
                        <a:t>METRIC</a:t>
                      </a:r>
                    </a:p>
                  </a:txBody>
                  <a:tcPr marT="25400" marB="25400">
                    <a:solidFill>
                      <a:srgbClr val="FCFCFB"/>
                    </a:solidFill>
                  </a:tcPr>
                </a:tc>
                <a:tc>
                  <a:txBody>
                    <a:bodyPr wrap="square"/>
                    <a:lstStyle/>
                    <a:p>
                      <a:pPr algn="r"/>
                      <a:r>
                        <a:rPr sz="850" b="1" i="0" spc="40">
                          <a:solidFill>
                            <a:srgbClr val="898781"/>
                          </a:solidFill>
                          <a:latin typeface="Segoe UI"/>
                        </a:rPr>
                        <a:t>LATENT_DIM=64</a:t>
                      </a:r>
                    </a:p>
                  </a:txBody>
                  <a:tcPr marT="25400" marB="25400">
                    <a:solidFill>
                      <a:srgbClr val="FCFCFB"/>
                    </a:solidFill>
                  </a:tcPr>
                </a:tc>
                <a:tc>
                  <a:txBody>
                    <a:bodyPr wrap="square"/>
                    <a:lstStyle/>
                    <a:p>
                      <a:pPr algn="r"/>
                      <a:r>
                        <a:rPr sz="850" b="1" i="0" spc="40">
                          <a:solidFill>
                            <a:srgbClr val="898781"/>
                          </a:solidFill>
                          <a:latin typeface="Segoe UI"/>
                        </a:rPr>
                        <a:t>LATENT_DIM=128</a:t>
                      </a:r>
                    </a:p>
                  </a:txBody>
                  <a:tcPr marT="25400" marB="25400">
                    <a:solidFill>
                      <a:srgbClr val="FCFCFB"/>
                    </a:solidFill>
                  </a:tcPr>
                </a:tc>
              </a:tr>
              <a:tr h="422910">
                <a:tc>
                  <a:txBody>
                    <a:bodyPr wrap="square"/>
                    <a:lstStyle/>
                    <a:p>
                      <a:pPr algn="l"/>
                      <a:r>
                        <a:rPr sz="1050" b="0" i="0">
                          <a:solidFill>
                            <a:srgbClr val="0B0B0B"/>
                          </a:solidFill>
                          <a:latin typeface="Segoe UI"/>
                        </a:rPr>
                        <a:t>HH4B tag rate (trained)</a:t>
                      </a:r>
                    </a:p>
                  </a:txBody>
                  <a:tcPr marT="19050" marB="19050">
                    <a:solidFill>
                      <a:srgbClr val="FFFFFF"/>
                    </a:solidFill>
                  </a:tcPr>
                </a:tc>
                <a:tc>
                  <a:txBody>
                    <a:bodyPr wrap="square"/>
                    <a:lstStyle/>
                    <a:p>
                      <a:pPr algn="r"/>
                      <a:r>
                        <a:rPr sz="1050" b="0" i="0">
                          <a:solidFill>
                            <a:srgbClr val="0B0B0B"/>
                          </a:solidFill>
                          <a:latin typeface="Consolas"/>
                        </a:rPr>
                        <a:t>0.6385</a:t>
                      </a:r>
                    </a:p>
                  </a:txBody>
                  <a:tcPr marT="19050" marB="19050">
                    <a:solidFill>
                      <a:srgbClr val="FFFFFF"/>
                    </a:solidFill>
                  </a:tcPr>
                </a:tc>
                <a:tc>
                  <a:txBody>
                    <a:bodyPr wrap="square"/>
                    <a:lstStyle/>
                    <a:p>
                      <a:pPr algn="r"/>
                      <a:r>
                        <a:rPr sz="1050" b="0" i="0">
                          <a:solidFill>
                            <a:srgbClr val="0B0B0B"/>
                          </a:solidFill>
                          <a:latin typeface="Consolas"/>
                        </a:rPr>
                        <a:t>0.5915</a:t>
                      </a:r>
                    </a:p>
                  </a:txBody>
                  <a:tcPr marT="19050" marB="19050">
                    <a:solidFill>
                      <a:srgbClr val="FFFFFF"/>
                    </a:solidFill>
                  </a:tcPr>
                </a:tc>
              </a:tr>
              <a:tr h="422910">
                <a:tc>
                  <a:txBody>
                    <a:bodyPr wrap="square"/>
                    <a:lstStyle/>
                    <a:p>
                      <a:pPr algn="l"/>
                      <a:r>
                        <a:rPr sz="1050" b="0" i="0">
                          <a:solidFill>
                            <a:srgbClr val="0B0B0B"/>
                          </a:solidFill>
                          <a:latin typeface="Segoe UI"/>
                        </a:rPr>
                        <a:t>HH tag rate (external)</a:t>
                      </a:r>
                    </a:p>
                  </a:txBody>
                  <a:tcPr marT="19050" marB="19050">
                    <a:solidFill>
                      <a:srgbClr val="FFFFFF"/>
                    </a:solidFill>
                  </a:tcPr>
                </a:tc>
                <a:tc>
                  <a:txBody>
                    <a:bodyPr wrap="square"/>
                    <a:lstStyle/>
                    <a:p>
                      <a:pPr algn="r"/>
                      <a:r>
                        <a:rPr sz="1050" b="0" i="0">
                          <a:solidFill>
                            <a:srgbClr val="0B0B0B"/>
                          </a:solidFill>
                          <a:latin typeface="Consolas"/>
                        </a:rPr>
                        <a:t>0.1695</a:t>
                      </a:r>
                    </a:p>
                  </a:txBody>
                  <a:tcPr marT="19050" marB="19050">
                    <a:solidFill>
                      <a:srgbClr val="FFFFFF"/>
                    </a:solidFill>
                  </a:tcPr>
                </a:tc>
                <a:tc>
                  <a:txBody>
                    <a:bodyPr wrap="square"/>
                    <a:lstStyle/>
                    <a:p>
                      <a:pPr algn="r"/>
                      <a:r>
                        <a:rPr sz="1050" b="0" i="0">
                          <a:solidFill>
                            <a:srgbClr val="0B0B0B"/>
                          </a:solidFill>
                          <a:latin typeface="Consolas"/>
                        </a:rPr>
                        <a:t>0.1505</a:t>
                      </a:r>
                    </a:p>
                  </a:txBody>
                  <a:tcPr marT="19050" marB="19050">
                    <a:solidFill>
                      <a:srgbClr val="FFFFFF"/>
                    </a:solidFill>
                  </a:tcPr>
                </a:tc>
              </a:tr>
              <a:tr h="422910">
                <a:tc>
                  <a:txBody>
                    <a:bodyPr wrap="square"/>
                    <a:lstStyle/>
                    <a:p>
                      <a:pPr algn="l"/>
                      <a:r>
                        <a:rPr sz="1050" b="0" i="0">
                          <a:solidFill>
                            <a:srgbClr val="0B0B0B"/>
                          </a:solidFill>
                          <a:latin typeface="Segoe UI"/>
                        </a:rPr>
                        <a:t>VBFH tag rate (external)</a:t>
                      </a:r>
                    </a:p>
                  </a:txBody>
                  <a:tcPr marT="19050" marB="19050">
                    <a:solidFill>
                      <a:srgbClr val="FFFFFF"/>
                    </a:solidFill>
                  </a:tcPr>
                </a:tc>
                <a:tc>
                  <a:txBody>
                    <a:bodyPr wrap="square"/>
                    <a:lstStyle/>
                    <a:p>
                      <a:pPr algn="r"/>
                      <a:r>
                        <a:rPr sz="1050" b="0" i="0">
                          <a:solidFill>
                            <a:srgbClr val="0B0B0B"/>
                          </a:solidFill>
                          <a:latin typeface="Consolas"/>
                        </a:rPr>
                        <a:t>0.0155</a:t>
                      </a:r>
                    </a:p>
                  </a:txBody>
                  <a:tcPr marT="19050" marB="19050">
                    <a:solidFill>
                      <a:srgbClr val="FFFFFF"/>
                    </a:solidFill>
                  </a:tcPr>
                </a:tc>
                <a:tc>
                  <a:txBody>
                    <a:bodyPr wrap="square"/>
                    <a:lstStyle/>
                    <a:p>
                      <a:pPr algn="r"/>
                      <a:r>
                        <a:rPr sz="1050" b="0" i="0">
                          <a:solidFill>
                            <a:srgbClr val="0B0B0B"/>
                          </a:solidFill>
                          <a:latin typeface="Consolas"/>
                        </a:rPr>
                        <a:t>0.0125</a:t>
                      </a:r>
                    </a:p>
                  </a:txBody>
                  <a:tcPr marT="19050" marB="19050">
                    <a:solidFill>
                      <a:srgbClr val="FFFFFF"/>
                    </a:solidFill>
                  </a:tcPr>
                </a:tc>
              </a:tr>
              <a:tr h="422910">
                <a:tc>
                  <a:txBody>
                    <a:bodyPr wrap="square"/>
                    <a:lstStyle/>
                    <a:p>
                      <a:pPr algn="l"/>
                      <a:r>
                        <a:rPr sz="1050" b="0" i="0">
                          <a:solidFill>
                            <a:srgbClr val="0B0B0B"/>
                          </a:solidFill>
                          <a:latin typeface="Segoe UI"/>
                        </a:rPr>
                        <a:t>ggH tag rate (external)</a:t>
                      </a:r>
                    </a:p>
                  </a:txBody>
                  <a:tcPr marT="19050" marB="19050">
                    <a:solidFill>
                      <a:srgbClr val="FFFFFF"/>
                    </a:solidFill>
                  </a:tcPr>
                </a:tc>
                <a:tc>
                  <a:txBody>
                    <a:bodyPr wrap="square"/>
                    <a:lstStyle/>
                    <a:p>
                      <a:pPr algn="r"/>
                      <a:r>
                        <a:rPr sz="1050" b="0" i="0">
                          <a:solidFill>
                            <a:srgbClr val="0B0B0B"/>
                          </a:solidFill>
                          <a:latin typeface="Consolas"/>
                        </a:rPr>
                        <a:t>0.0095</a:t>
                      </a:r>
                    </a:p>
                  </a:txBody>
                  <a:tcPr marT="19050" marB="19050">
                    <a:solidFill>
                      <a:srgbClr val="FFFFFF"/>
                    </a:solidFill>
                  </a:tcPr>
                </a:tc>
                <a:tc>
                  <a:txBody>
                    <a:bodyPr wrap="square"/>
                    <a:lstStyle/>
                    <a:p>
                      <a:pPr algn="r"/>
                      <a:r>
                        <a:rPr sz="1050" b="0" i="0">
                          <a:solidFill>
                            <a:srgbClr val="0B0B0B"/>
                          </a:solidFill>
                          <a:latin typeface="Consolas"/>
                        </a:rPr>
                        <a:t>0.0100</a:t>
                      </a:r>
                    </a:p>
                  </a:txBody>
                  <a:tcPr marT="19050" marB="19050">
                    <a:solidFill>
                      <a:srgbClr val="FFFFFF"/>
                    </a:solidFill>
                  </a:tcPr>
                </a:tc>
              </a:tr>
              <a:tr h="422910">
                <a:tc>
                  <a:txBody>
                    <a:bodyPr wrap="square"/>
                    <a:lstStyle/>
                    <a:p>
                      <a:pPr algn="l"/>
                      <a:r>
                        <a:rPr sz="1050" b="0" i="0">
                          <a:solidFill>
                            <a:srgbClr val="0B0B0B"/>
                          </a:solidFill>
                          <a:latin typeface="Segoe UI"/>
                        </a:rPr>
                        <a:t>HH4B eval-quality (geometry)</a:t>
                      </a:r>
                    </a:p>
                  </a:txBody>
                  <a:tcPr marT="19050" marB="19050">
                    <a:solidFill>
                      <a:srgbClr val="FFFFFF"/>
                    </a:solidFill>
                  </a:tcPr>
                </a:tc>
                <a:tc>
                  <a:txBody>
                    <a:bodyPr wrap="square"/>
                    <a:lstStyle/>
                    <a:p>
                      <a:pPr algn="r"/>
                      <a:r>
                        <a:rPr sz="1050" b="0" i="0">
                          <a:solidFill>
                            <a:srgbClr val="0B0B0B"/>
                          </a:solidFill>
                          <a:latin typeface="Consolas"/>
                        </a:rPr>
                        <a:t>0.1098</a:t>
                      </a:r>
                    </a:p>
                  </a:txBody>
                  <a:tcPr marT="19050" marB="19050">
                    <a:solidFill>
                      <a:srgbClr val="FFFFFF"/>
                    </a:solidFill>
                  </a:tcPr>
                </a:tc>
                <a:tc>
                  <a:txBody>
                    <a:bodyPr wrap="square"/>
                    <a:lstStyle/>
                    <a:p>
                      <a:pPr algn="r"/>
                      <a:r>
                        <a:rPr sz="1050" b="0" i="0">
                          <a:solidFill>
                            <a:srgbClr val="0B0B0B"/>
                          </a:solidFill>
                          <a:latin typeface="Consolas"/>
                        </a:rPr>
                        <a:t>0.1702</a:t>
                      </a:r>
                    </a:p>
                  </a:txBody>
                  <a:tcPr marT="19050" marB="19050">
                    <a:solidFill>
                      <a:srgbClr val="FFFFFF"/>
                    </a:solidFill>
                  </a:tcPr>
                </a:tc>
              </a:tr>
              <a:tr h="422910">
                <a:tc>
                  <a:txBody>
                    <a:bodyPr wrap="square"/>
                    <a:lstStyle/>
                    <a:p>
                      <a:pPr algn="l"/>
                      <a:r>
                        <a:rPr sz="1050" b="0" i="0">
                          <a:solidFill>
                            <a:srgbClr val="0B0B0B"/>
                          </a:solidFill>
                          <a:latin typeface="Segoe UI"/>
                        </a:rPr>
                        <a:t>Effective rank</a:t>
                      </a:r>
                    </a:p>
                  </a:txBody>
                  <a:tcPr marT="19050" marB="19050">
                    <a:solidFill>
                      <a:srgbClr val="FFFFFF"/>
                    </a:solidFill>
                  </a:tcPr>
                </a:tc>
                <a:tc>
                  <a:txBody>
                    <a:bodyPr wrap="square"/>
                    <a:lstStyle/>
                    <a:p>
                      <a:pPr algn="r"/>
                      <a:r>
                        <a:rPr sz="1050" b="0" i="0">
                          <a:solidFill>
                            <a:srgbClr val="0B0B0B"/>
                          </a:solidFill>
                          <a:latin typeface="Consolas"/>
                        </a:rPr>
                        <a:t>7.23</a:t>
                      </a:r>
                    </a:p>
                  </a:txBody>
                  <a:tcPr marT="19050" marB="19050">
                    <a:solidFill>
                      <a:srgbClr val="FFFFFF"/>
                    </a:solidFill>
                  </a:tcPr>
                </a:tc>
                <a:tc>
                  <a:txBody>
                    <a:bodyPr wrap="square"/>
                    <a:lstStyle/>
                    <a:p>
                      <a:pPr algn="r"/>
                      <a:r>
                        <a:rPr sz="1050" b="0" i="0">
                          <a:solidFill>
                            <a:srgbClr val="0B0B0B"/>
                          </a:solidFill>
                          <a:latin typeface="Consolas"/>
                        </a:rPr>
                        <a:t>6.31</a:t>
                      </a:r>
                    </a:p>
                  </a:txBody>
                  <a:tcPr marT="19050" marB="19050">
                    <a:solidFill>
                      <a:srgbClr val="FFFFFF"/>
                    </a:solidFill>
                  </a:tcPr>
                </a:tc>
              </a:tr>
              <a:tr h="422910">
                <a:tc>
                  <a:txBody>
                    <a:bodyPr wrap="square"/>
                    <a:lstStyle/>
                    <a:p>
                      <a:pPr algn="l"/>
                      <a:r>
                        <a:rPr sz="1050" b="0" i="0">
                          <a:solidFill>
                            <a:srgbClr val="0B0B0B"/>
                          </a:solidFill>
                          <a:latin typeface="Segoe UI"/>
                        </a:rPr>
                        <a:t>Head-Fisher effective rank</a:t>
                      </a:r>
                    </a:p>
                  </a:txBody>
                  <a:tcPr marT="19050" marB="19050">
                    <a:solidFill>
                      <a:srgbClr val="FFFFFF"/>
                    </a:solidFill>
                  </a:tcPr>
                </a:tc>
                <a:tc>
                  <a:txBody>
                    <a:bodyPr wrap="square"/>
                    <a:lstStyle/>
                    <a:p>
                      <a:pPr algn="r"/>
                      <a:r>
                        <a:rPr sz="1050" b="0" i="0">
                          <a:solidFill>
                            <a:srgbClr val="0B0B0B"/>
                          </a:solidFill>
                          <a:latin typeface="Consolas"/>
                        </a:rPr>
                        <a:t>61.05</a:t>
                      </a:r>
                    </a:p>
                  </a:txBody>
                  <a:tcPr marT="19050" marB="19050">
                    <a:solidFill>
                      <a:srgbClr val="FFFFFF"/>
                    </a:solidFill>
                  </a:tcPr>
                </a:tc>
                <a:tc>
                  <a:txBody>
                    <a:bodyPr wrap="square"/>
                    <a:lstStyle/>
                    <a:p>
                      <a:pPr algn="r"/>
                      <a:r>
                        <a:rPr sz="1050" b="0" i="0">
                          <a:solidFill>
                            <a:srgbClr val="0B0B0B"/>
                          </a:solidFill>
                          <a:latin typeface="Consolas"/>
                        </a:rPr>
                        <a:t>89.22</a:t>
                      </a:r>
                    </a:p>
                  </a:txBody>
                  <a:tcPr marT="19050" marB="19050">
                    <a:solidFill>
                      <a:srgbClr val="FFFFFF"/>
                    </a:solidFill>
                  </a:tcPr>
                </a:tc>
              </a:tr>
            </a:tbl>
          </a:graphicData>
        </a:graphic>
      </p:graphicFrame>
      <p:sp>
        <p:nvSpPr>
          <p:cNvPr id="7" name="Rounded Rectangle 6"/>
          <p:cNvSpPr/>
          <p:nvPr/>
        </p:nvSpPr>
        <p:spPr>
          <a:xfrm>
            <a:off x="6263640" y="1554480"/>
            <a:ext cx="5440680" cy="3429000"/>
          </a:xfrm>
          <a:prstGeom prst="roundRect">
            <a:avLst>
              <a:gd name="adj" fmla="val 6000"/>
            </a:avLst>
          </a:prstGeom>
          <a:solidFill>
            <a:srgbClr val="FFFFFF"/>
          </a:solidFill>
          <a:ln w="9525">
            <a:solidFill>
              <a:srgbClr val="D8D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91656" y="1645920"/>
            <a:ext cx="5184648" cy="237744"/>
          </a:xfrm>
          <a:prstGeom prst="rect">
            <a:avLst/>
          </a:prstGeom>
          <a:noFill/>
        </p:spPr>
        <p:txBody>
          <a:bodyPr wrap="square">
            <a:spAutoFit/>
          </a:bodyPr>
          <a:lstStyle/>
          <a:p>
            <a:pPr algn="l"/>
            <a:r>
              <a:rPr sz="950" b="1" i="0" spc="90">
                <a:solidFill>
                  <a:srgbClr val="898781"/>
                </a:solidFill>
                <a:latin typeface="Segoe UI"/>
              </a:rPr>
              <a:t>VICREG LATENT_DIM=64 — CLASSIFIER RESPONSE</a:t>
            </a:r>
          </a:p>
        </p:txBody>
      </p:sp>
      <p:pic>
        <p:nvPicPr>
          <p:cNvPr id="9" name="Picture 8" descr="classifier_response_matrix.png"/>
          <p:cNvPicPr>
            <a:picLocks noChangeAspect="1"/>
          </p:cNvPicPr>
          <p:nvPr/>
        </p:nvPicPr>
        <p:blipFill>
          <a:blip r:embed="rId2"/>
          <a:stretch>
            <a:fillRect/>
          </a:stretch>
        </p:blipFill>
        <p:spPr>
          <a:xfrm>
            <a:off x="6373368" y="1901952"/>
            <a:ext cx="5221224" cy="2610612"/>
          </a:xfrm>
          <a:prstGeom prst="rect">
            <a:avLst/>
          </a:prstGeom>
        </p:spPr>
      </p:pic>
      <p:sp>
        <p:nvSpPr>
          <p:cNvPr id="10" name="TextBox 9"/>
          <p:cNvSpPr txBox="1"/>
          <p:nvPr/>
        </p:nvSpPr>
        <p:spPr>
          <a:xfrm>
            <a:off x="6391656" y="4727448"/>
            <a:ext cx="5184648" cy="219456"/>
          </a:xfrm>
          <a:prstGeom prst="rect">
            <a:avLst/>
          </a:prstGeom>
          <a:noFill/>
        </p:spPr>
        <p:txBody>
          <a:bodyPr wrap="square">
            <a:spAutoFit/>
          </a:bodyPr>
          <a:lstStyle/>
          <a:p>
            <a:pPr algn="ctr"/>
            <a:r>
              <a:rPr sz="750" b="0" i="0">
                <a:solidFill>
                  <a:srgbClr val="898781"/>
                </a:solidFill>
                <a:latin typeface="Segoe UI"/>
              </a:rPr>
              <a:t>runs/2026-08-06/sm_superclasses_vicreg001_var001_100k_latent64/figures/external_classifier_response/classifier_response_matrix.png</a:t>
            </a:r>
          </a:p>
        </p:txBody>
      </p:sp>
      <p:sp>
        <p:nvSpPr>
          <p:cNvPr id="11" name="TextBox 10"/>
          <p:cNvSpPr txBox="1"/>
          <p:nvPr/>
        </p:nvSpPr>
        <p:spPr>
          <a:xfrm>
            <a:off x="457200" y="5120640"/>
            <a:ext cx="11292840" cy="1371600"/>
          </a:xfrm>
          <a:prstGeom prst="rect">
            <a:avLst/>
          </a:prstGeom>
          <a:noFill/>
        </p:spPr>
        <p:txBody>
          <a:bodyPr wrap="square">
            <a:spAutoFit/>
          </a:bodyPr>
          <a:lstStyle/>
          <a:p>
            <a:pPr>
              <a:lnSpc>
                <a:spcPct val="110000"/>
              </a:lnSpc>
              <a:spcAft>
                <a:spcPts val="600"/>
              </a:spcAft>
            </a:pPr>
            <a:r>
              <a:rPr sz="650" b="0" i="0">
                <a:solidFill>
                  <a:srgbClr val="2A78D6"/>
                </a:solidFill>
                <a:latin typeface="Segoe UI"/>
              </a:rPr>
              <a:t>●   </a:t>
            </a:r>
            <a:r>
              <a:rPr sz="1150" b="1" i="0">
                <a:solidFill>
                  <a:srgbClr val="0B0B0B"/>
                </a:solidFill>
                <a:latin typeface="Segoe UI"/>
              </a:rPr>
              <a:t>VICReg latent_dim=64 gives the highest trained-HH4B tag rate of any model evaluated (0.6385)</a:t>
            </a:r>
            <a:r>
              <a:rPr sz="1150" b="0" i="0">
                <a:solidFill>
                  <a:srgbClr val="0B0B0B"/>
                </a:solidFill>
                <a:latin typeface="Segoe UI"/>
              </a:rPr>
              <a:t>, ahead of both the balanced and anomaly-oriented 10-class models.</a:t>
            </a:r>
          </a:p>
          <a:p>
            <a:pPr>
              <a:lnSpc>
                <a:spcPct val="110000"/>
              </a:lnSpc>
              <a:spcAft>
                <a:spcPts val="600"/>
              </a:spcAft>
            </a:pPr>
            <a:r>
              <a:rPr sz="650" b="0" i="0">
                <a:solidFill>
                  <a:srgbClr val="2A78D6"/>
                </a:solidFill>
                <a:latin typeface="Segoe UI"/>
              </a:rPr>
              <a:t>●   </a:t>
            </a:r>
            <a:r>
              <a:rPr sz="1150" b="0" i="0">
                <a:solidFill>
                  <a:srgbClr val="0B0B0B"/>
                </a:solidFill>
                <a:latin typeface="Segoe UI"/>
              </a:rPr>
              <a:t>It does not yet clearly make HH, VBFH, or ggH map to HH4B — external tag rates remain low, similar to the other models.</a:t>
            </a:r>
          </a:p>
          <a:p>
            <a:pPr>
              <a:lnSpc>
                <a:spcPct val="110000"/>
              </a:lnSpc>
              <a:spcAft>
                <a:spcPts val="600"/>
              </a:spcAft>
            </a:pPr>
            <a:r>
              <a:rPr sz="650" b="0" i="0">
                <a:solidFill>
                  <a:srgbClr val="2A78D6"/>
                </a:solidFill>
                <a:latin typeface="Segoe UI"/>
              </a:rPr>
              <a:t>●   </a:t>
            </a:r>
            <a:r>
              <a:rPr sz="1150" b="1" i="0">
                <a:solidFill>
                  <a:srgbClr val="0B0B0B"/>
                </a:solidFill>
                <a:latin typeface="Segoe UI"/>
              </a:rPr>
              <a:t>Promising but not yet the main selected model</a:t>
            </a:r>
            <a:r>
              <a:rPr sz="1150" b="0" i="0">
                <a:solidFill>
                  <a:srgbClr val="0B0B0B"/>
                </a:solidFill>
                <a:latin typeface="Segoe UI"/>
              </a:rPr>
              <a:t> — kept as an additional exploratory check.</a:t>
            </a:r>
          </a:p>
        </p:txBody>
      </p:sp>
      <p:sp>
        <p:nvSpPr>
          <p:cNvPr id="12" name="Oval 11"/>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74739"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MAIN FINDINGS</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11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Main findings</a:t>
            </a:r>
          </a:p>
        </p:txBody>
      </p:sp>
      <p:sp>
        <p:nvSpPr>
          <p:cNvPr id="6" name="TextBox 5"/>
          <p:cNvSpPr txBox="1"/>
          <p:nvPr/>
        </p:nvSpPr>
        <p:spPr>
          <a:xfrm>
            <a:off x="548640" y="1600200"/>
            <a:ext cx="10972800" cy="4754880"/>
          </a:xfrm>
          <a:prstGeom prst="rect">
            <a:avLst/>
          </a:prstGeom>
          <a:noFill/>
        </p:spPr>
        <p:txBody>
          <a:bodyPr wrap="square">
            <a:spAutoFit/>
          </a:bodyPr>
          <a:lstStyle/>
          <a:p>
            <a:pPr>
              <a:lnSpc>
                <a:spcPct val="110000"/>
              </a:lnSpc>
              <a:spcAft>
                <a:spcPts val="900"/>
              </a:spcAft>
            </a:pPr>
            <a:r>
              <a:rPr sz="800" b="0" i="0">
                <a:solidFill>
                  <a:srgbClr val="2A78D6"/>
                </a:solidFill>
                <a:latin typeface="Segoe UI"/>
              </a:rPr>
              <a:t>●   </a:t>
            </a:r>
            <a:r>
              <a:rPr sz="1300" b="0" i="0">
                <a:solidFill>
                  <a:srgbClr val="0B0B0B"/>
                </a:solidFill>
                <a:latin typeface="Segoe UI"/>
              </a:rPr>
              <a:t>The 10-class setup is more realistic for anomaly detection than the earlier 4-class setup — it can directly test whether HH-like signals activate an HH4B output.</a:t>
            </a:r>
          </a:p>
          <a:p>
            <a:pPr>
              <a:lnSpc>
                <a:spcPct val="110000"/>
              </a:lnSpc>
              <a:spcAft>
                <a:spcPts val="900"/>
              </a:spcAft>
            </a:pPr>
            <a:r>
              <a:rPr sz="800" b="0" i="0">
                <a:solidFill>
                  <a:srgbClr val="2A78D6"/>
                </a:solidFill>
                <a:latin typeface="Segoe UI"/>
              </a:rPr>
              <a:t>●   </a:t>
            </a:r>
            <a:r>
              <a:rPr sz="1300" b="0" i="0">
                <a:solidFill>
                  <a:srgbClr val="0B0B0B"/>
                </a:solidFill>
                <a:latin typeface="Segoe UI"/>
              </a:rPr>
              <a:t>More granular/broader labels activate more latent structure than the original coarse setup (consistent with the effective-rank spread seen across objectives).</a:t>
            </a:r>
          </a:p>
          <a:p>
            <a:pPr>
              <a:lnSpc>
                <a:spcPct val="110000"/>
              </a:lnSpc>
              <a:spcAft>
                <a:spcPts val="900"/>
              </a:spcAft>
            </a:pPr>
            <a:r>
              <a:rPr sz="800" b="0" i="0">
                <a:solidFill>
                  <a:srgbClr val="2A78D6"/>
                </a:solidFill>
                <a:latin typeface="Segoe UI"/>
              </a:rPr>
              <a:t>●   </a:t>
            </a:r>
            <a:r>
              <a:rPr sz="1300" b="1" i="0">
                <a:solidFill>
                  <a:srgbClr val="0B0B0B"/>
                </a:solidFill>
                <a:latin typeface="Segoe UI"/>
              </a:rPr>
              <a:t>External Higgs signals do not all behave like trained HH4B at L1.</a:t>
            </a:r>
            <a:r>
              <a:rPr sz="1300" b="0" i="0">
                <a:solidFill>
                  <a:srgbClr val="0B0B0B"/>
                </a:solidFill>
                <a:latin typeface="Segoe UI"/>
              </a:rPr>
              <a:t/>
            </a:r>
          </a:p>
          <a:p>
            <a:pPr>
              <a:lnSpc>
                <a:spcPct val="110000"/>
              </a:lnSpc>
              <a:spcAft>
                <a:spcPts val="900"/>
              </a:spcAft>
            </a:pPr>
            <a:r>
              <a:rPr sz="800" b="0" i="0">
                <a:solidFill>
                  <a:srgbClr val="2A78D6"/>
                </a:solidFill>
                <a:latin typeface="Segoe UI"/>
              </a:rPr>
              <a:t>●   </a:t>
            </a:r>
            <a:r>
              <a:rPr sz="1300" b="1" i="0">
                <a:solidFill>
                  <a:srgbClr val="0B0B0B"/>
                </a:solidFill>
                <a:latin typeface="Segoe UI"/>
              </a:rPr>
              <a:t>HH</a:t>
            </a:r>
            <a:r>
              <a:rPr sz="1300" b="0" i="0">
                <a:solidFill>
                  <a:srgbClr val="0B0B0B"/>
                </a:solidFill>
                <a:latin typeface="Segoe UI"/>
              </a:rPr>
              <a:t> shows partial overlap with HH4B-like behavior (tag rate ~0.15-0.23 depending on model).</a:t>
            </a:r>
          </a:p>
          <a:p>
            <a:pPr>
              <a:lnSpc>
                <a:spcPct val="110000"/>
              </a:lnSpc>
              <a:spcAft>
                <a:spcPts val="900"/>
              </a:spcAft>
            </a:pPr>
            <a:r>
              <a:rPr sz="800" b="0" i="0">
                <a:solidFill>
                  <a:srgbClr val="2A78D6"/>
                </a:solidFill>
                <a:latin typeface="Segoe UI"/>
              </a:rPr>
              <a:t>●   </a:t>
            </a:r>
            <a:r>
              <a:rPr sz="1300" b="1" i="0">
                <a:solidFill>
                  <a:srgbClr val="0B0B0B"/>
                </a:solidFill>
                <a:latin typeface="Segoe UI"/>
              </a:rPr>
              <a:t>VBFH and ggH</a:t>
            </a:r>
            <a:r>
              <a:rPr sz="1300" b="0" i="0">
                <a:solidFill>
                  <a:srgbClr val="0B0B0B"/>
                </a:solidFill>
                <a:latin typeface="Segoe UI"/>
              </a:rPr>
              <a:t> are consistently mapped to the WZ electroweak-like background class under both 10-class models (tag rates ~1-2%).</a:t>
            </a:r>
          </a:p>
          <a:p>
            <a:pPr>
              <a:lnSpc>
                <a:spcPct val="110000"/>
              </a:lnSpc>
              <a:spcAft>
                <a:spcPts val="900"/>
              </a:spcAft>
            </a:pPr>
            <a:r>
              <a:rPr sz="800" b="0" i="0">
                <a:solidFill>
                  <a:srgbClr val="2A78D6"/>
                </a:solidFill>
                <a:latin typeface="Segoe UI"/>
              </a:rPr>
              <a:t>●   </a:t>
            </a:r>
            <a:r>
              <a:rPr sz="1300" b="0" i="0">
                <a:solidFill>
                  <a:srgbClr val="0B0B0B"/>
                </a:solidFill>
                <a:latin typeface="Segoe UI"/>
              </a:rPr>
              <a:t>Balanced (CE + SupCon 0.05 + variance) remains the most stable main candidate across metrics.</a:t>
            </a:r>
          </a:p>
          <a:p>
            <a:pPr>
              <a:lnSpc>
                <a:spcPct val="110000"/>
              </a:lnSpc>
              <a:spcAft>
                <a:spcPts val="900"/>
              </a:spcAft>
            </a:pPr>
            <a:r>
              <a:rPr sz="800" b="0" i="0">
                <a:solidFill>
                  <a:srgbClr val="2A78D6"/>
                </a:solidFill>
                <a:latin typeface="Segoe UI"/>
              </a:rPr>
              <a:t>●   </a:t>
            </a:r>
            <a:r>
              <a:rPr sz="1300" b="0" i="0">
                <a:solidFill>
                  <a:srgbClr val="0B0B0B"/>
                </a:solidFill>
                <a:latin typeface="Segoe UI"/>
              </a:rPr>
              <a:t>Covariance-regularized and VICReg-style models are useful anomaly-geometry comparisons, each strong on different metrics.</a:t>
            </a:r>
          </a:p>
        </p:txBody>
      </p:sp>
      <p:sp>
        <p:nvSpPr>
          <p:cNvPr id="7" name="Oval 6"/>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2755"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CURRENT INTERPRETATION</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12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Selection should balance four things, not one</a:t>
            </a:r>
          </a:p>
        </p:txBody>
      </p:sp>
      <p:sp>
        <p:nvSpPr>
          <p:cNvPr id="6" name="TextBox 5"/>
          <p:cNvSpPr txBox="1"/>
          <p:nvPr/>
        </p:nvSpPr>
        <p:spPr>
          <a:xfrm>
            <a:off x="548640" y="1600200"/>
            <a:ext cx="10972800" cy="2103120"/>
          </a:xfrm>
          <a:prstGeom prst="rect">
            <a:avLst/>
          </a:prstGeom>
          <a:noFill/>
        </p:spPr>
        <p:txBody>
          <a:bodyPr wrap="square">
            <a:spAutoFit/>
          </a:bodyPr>
          <a:lstStyle/>
          <a:p>
            <a:pPr>
              <a:lnSpc>
                <a:spcPct val="110000"/>
              </a:lnSpc>
              <a:spcAft>
                <a:spcPts val="1100"/>
              </a:spcAft>
            </a:pPr>
            <a:r>
              <a:rPr sz="950" b="0" i="0">
                <a:solidFill>
                  <a:srgbClr val="2A78D6"/>
                </a:solidFill>
                <a:latin typeface="Segoe UI"/>
              </a:rPr>
              <a:t>●   </a:t>
            </a:r>
            <a:r>
              <a:rPr sz="1450" b="1" i="0">
                <a:solidFill>
                  <a:srgbClr val="0B0B0B"/>
                </a:solidFill>
                <a:latin typeface="Segoe UI"/>
              </a:rPr>
              <a:t>For anomaly detection, the model should not be selected only by accuracy or HH4B F1.</a:t>
            </a:r>
            <a:r>
              <a:rPr sz="1450" b="0" i="0">
                <a:solidFill>
                  <a:srgbClr val="0B0B0B"/>
                </a:solidFill>
                <a:latin typeface="Segoe UI"/>
              </a:rPr>
              <a:t/>
            </a:r>
          </a:p>
          <a:p>
            <a:pPr>
              <a:lnSpc>
                <a:spcPct val="110000"/>
              </a:lnSpc>
              <a:spcAft>
                <a:spcPts val="1100"/>
              </a:spcAft>
            </a:pPr>
            <a:r>
              <a:rPr sz="950" b="0" i="0">
                <a:solidFill>
                  <a:srgbClr val="2A78D6"/>
                </a:solidFill>
                <a:latin typeface="Segoe UI"/>
              </a:rPr>
              <a:t>●   </a:t>
            </a:r>
            <a:r>
              <a:rPr sz="1450" b="0" i="0">
                <a:solidFill>
                  <a:srgbClr val="0B0B0B"/>
                </a:solidFill>
                <a:latin typeface="Segoe UI"/>
              </a:rPr>
              <a:t>The best configuration should balance: classifier response, external-signal behavior, latent-space geometry, and anomaly-score separation.</a:t>
            </a:r>
          </a:p>
        </p:txBody>
      </p:sp>
      <p:sp>
        <p:nvSpPr>
          <p:cNvPr id="7" name="Rounded Rectangle 6"/>
          <p:cNvSpPr/>
          <p:nvPr/>
        </p:nvSpPr>
        <p:spPr>
          <a:xfrm>
            <a:off x="548640" y="3794760"/>
            <a:ext cx="10972800" cy="2377440"/>
          </a:xfrm>
          <a:prstGeom prst="roundRect">
            <a:avLst>
              <a:gd name="adj" fmla="val 6000"/>
            </a:avLst>
          </a:prstGeom>
          <a:solidFill>
            <a:srgbClr val="FFFFFF"/>
          </a:solidFill>
          <a:ln w="9525">
            <a:solidFill>
              <a:srgbClr val="D8D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950208"/>
            <a:ext cx="10058400" cy="237744"/>
          </a:xfrm>
          <a:prstGeom prst="rect">
            <a:avLst/>
          </a:prstGeom>
          <a:noFill/>
        </p:spPr>
        <p:txBody>
          <a:bodyPr wrap="square">
            <a:spAutoFit/>
          </a:bodyPr>
          <a:lstStyle/>
          <a:p>
            <a:pPr algn="l"/>
            <a:r>
              <a:rPr sz="950" b="1" i="0" spc="90">
                <a:solidFill>
                  <a:srgbClr val="898781"/>
                </a:solidFill>
                <a:latin typeface="Segoe UI"/>
              </a:rPr>
              <a:t>CURRENT BEST WORKING CHOICE</a:t>
            </a:r>
          </a:p>
        </p:txBody>
      </p:sp>
      <p:sp>
        <p:nvSpPr>
          <p:cNvPr id="9" name="Rounded Rectangle 8"/>
          <p:cNvSpPr/>
          <p:nvPr/>
        </p:nvSpPr>
        <p:spPr>
          <a:xfrm>
            <a:off x="822960" y="4315968"/>
            <a:ext cx="1463040" cy="310896"/>
          </a:xfrm>
          <a:prstGeom prst="roundRect">
            <a:avLst>
              <a:gd name="adj" fmla="val 50000"/>
            </a:avLst>
          </a:prstGeom>
          <a:solidFill>
            <a:srgbClr val="E6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4439412"/>
            <a:ext cx="64008" cy="6400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2416" y="4315968"/>
            <a:ext cx="1225296" cy="310896"/>
          </a:xfrm>
          <a:prstGeom prst="rect">
            <a:avLst/>
          </a:prstGeom>
          <a:noFill/>
        </p:spPr>
        <p:txBody>
          <a:bodyPr wrap="none" anchor="ctr">
            <a:spAutoFit/>
          </a:bodyPr>
          <a:lstStyle/>
          <a:p>
            <a:r>
              <a:rPr sz="950" b="1" i="0">
                <a:solidFill>
                  <a:srgbClr val="0CA30C"/>
                </a:solidFill>
                <a:latin typeface="Segoe UI"/>
              </a:rPr>
              <a:t>MAIN</a:t>
            </a:r>
          </a:p>
        </p:txBody>
      </p:sp>
      <p:sp>
        <p:nvSpPr>
          <p:cNvPr id="12" name="TextBox 11"/>
          <p:cNvSpPr txBox="1"/>
          <p:nvPr/>
        </p:nvSpPr>
        <p:spPr>
          <a:xfrm>
            <a:off x="2468880" y="4315968"/>
            <a:ext cx="5486400" cy="310896"/>
          </a:xfrm>
          <a:prstGeom prst="rect">
            <a:avLst/>
          </a:prstGeom>
          <a:noFill/>
        </p:spPr>
        <p:txBody>
          <a:bodyPr wrap="square">
            <a:spAutoFit/>
          </a:bodyPr>
          <a:lstStyle/>
          <a:p>
            <a:pPr algn="l"/>
            <a:r>
              <a:rPr sz="1350" b="1" i="0">
                <a:solidFill>
                  <a:srgbClr val="0B0B0B"/>
                </a:solidFill>
                <a:latin typeface="Segoe UI"/>
              </a:rPr>
              <a:t>CE + SupCon 0.05 + variance</a:t>
            </a:r>
          </a:p>
        </p:txBody>
      </p:sp>
      <p:sp>
        <p:nvSpPr>
          <p:cNvPr id="13" name="TextBox 12"/>
          <p:cNvSpPr txBox="1"/>
          <p:nvPr/>
        </p:nvSpPr>
        <p:spPr>
          <a:xfrm>
            <a:off x="8229600" y="4315968"/>
            <a:ext cx="3108960" cy="310896"/>
          </a:xfrm>
          <a:prstGeom prst="rect">
            <a:avLst/>
          </a:prstGeom>
          <a:noFill/>
        </p:spPr>
        <p:txBody>
          <a:bodyPr wrap="square">
            <a:spAutoFit/>
          </a:bodyPr>
          <a:lstStyle/>
          <a:p>
            <a:pPr algn="l"/>
            <a:r>
              <a:rPr sz="1150" b="0" i="1">
                <a:solidFill>
                  <a:srgbClr val="898781"/>
                </a:solidFill>
                <a:latin typeface="Segoe UI"/>
              </a:rPr>
              <a:t>balanced</a:t>
            </a:r>
          </a:p>
        </p:txBody>
      </p:sp>
      <p:sp>
        <p:nvSpPr>
          <p:cNvPr id="14" name="Rounded Rectangle 13"/>
          <p:cNvSpPr/>
          <p:nvPr/>
        </p:nvSpPr>
        <p:spPr>
          <a:xfrm>
            <a:off x="822960" y="4846320"/>
            <a:ext cx="1463040" cy="310896"/>
          </a:xfrm>
          <a:prstGeom prst="roundRect">
            <a:avLst>
              <a:gd name="adj" fmla="val 50000"/>
            </a:avLst>
          </a:prstGeom>
          <a:solidFill>
            <a:srgbClr val="E7F0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4969764"/>
            <a:ext cx="64008" cy="6400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4846320"/>
            <a:ext cx="1225296" cy="310896"/>
          </a:xfrm>
          <a:prstGeom prst="rect">
            <a:avLst/>
          </a:prstGeom>
          <a:noFill/>
        </p:spPr>
        <p:txBody>
          <a:bodyPr wrap="none" anchor="ctr">
            <a:spAutoFit/>
          </a:bodyPr>
          <a:lstStyle/>
          <a:p>
            <a:r>
              <a:rPr sz="950" b="1" i="0">
                <a:solidFill>
                  <a:srgbClr val="2A78D6"/>
                </a:solidFill>
                <a:latin typeface="Segoe UI"/>
              </a:rPr>
              <a:t>COMPARISON</a:t>
            </a:r>
          </a:p>
        </p:txBody>
      </p:sp>
      <p:sp>
        <p:nvSpPr>
          <p:cNvPr id="17" name="TextBox 16"/>
          <p:cNvSpPr txBox="1"/>
          <p:nvPr/>
        </p:nvSpPr>
        <p:spPr>
          <a:xfrm>
            <a:off x="2468880" y="4846320"/>
            <a:ext cx="5486400" cy="310896"/>
          </a:xfrm>
          <a:prstGeom prst="rect">
            <a:avLst/>
          </a:prstGeom>
          <a:noFill/>
        </p:spPr>
        <p:txBody>
          <a:bodyPr wrap="square">
            <a:spAutoFit/>
          </a:bodyPr>
          <a:lstStyle/>
          <a:p>
            <a:pPr algn="l"/>
            <a:r>
              <a:rPr sz="1350" b="1" i="0">
                <a:solidFill>
                  <a:srgbClr val="0B0B0B"/>
                </a:solidFill>
                <a:latin typeface="Segoe UI"/>
              </a:rPr>
              <a:t>CE + variance + covariance</a:t>
            </a:r>
          </a:p>
        </p:txBody>
      </p:sp>
      <p:sp>
        <p:nvSpPr>
          <p:cNvPr id="18" name="TextBox 17"/>
          <p:cNvSpPr txBox="1"/>
          <p:nvPr/>
        </p:nvSpPr>
        <p:spPr>
          <a:xfrm>
            <a:off x="8229600" y="4846320"/>
            <a:ext cx="3108960" cy="310896"/>
          </a:xfrm>
          <a:prstGeom prst="rect">
            <a:avLst/>
          </a:prstGeom>
          <a:noFill/>
        </p:spPr>
        <p:txBody>
          <a:bodyPr wrap="square">
            <a:spAutoFit/>
          </a:bodyPr>
          <a:lstStyle/>
          <a:p>
            <a:pPr algn="l"/>
            <a:r>
              <a:rPr sz="1150" b="0" i="1">
                <a:solidFill>
                  <a:srgbClr val="898781"/>
                </a:solidFill>
                <a:latin typeface="Segoe UI"/>
              </a:rPr>
              <a:t>anomaly-oriented</a:t>
            </a:r>
          </a:p>
        </p:txBody>
      </p:sp>
      <p:sp>
        <p:nvSpPr>
          <p:cNvPr id="19" name="Rounded Rectangle 18"/>
          <p:cNvSpPr/>
          <p:nvPr/>
        </p:nvSpPr>
        <p:spPr>
          <a:xfrm>
            <a:off x="822960" y="5376672"/>
            <a:ext cx="1463040" cy="310896"/>
          </a:xfrm>
          <a:prstGeom prst="roundRect">
            <a:avLst>
              <a:gd name="adj" fmla="val 50000"/>
            </a:avLst>
          </a:prstGeom>
          <a:solidFill>
            <a:srgbClr val="EFE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5500116"/>
            <a:ext cx="64008" cy="64008"/>
          </a:xfrm>
          <a:prstGeom prst="ellipse">
            <a:avLst/>
          </a:prstGeom>
          <a:solidFill>
            <a:srgbClr val="8A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2416" y="5376672"/>
            <a:ext cx="1225296" cy="310896"/>
          </a:xfrm>
          <a:prstGeom prst="rect">
            <a:avLst/>
          </a:prstGeom>
          <a:noFill/>
        </p:spPr>
        <p:txBody>
          <a:bodyPr wrap="none" anchor="ctr">
            <a:spAutoFit/>
          </a:bodyPr>
          <a:lstStyle/>
          <a:p>
            <a:r>
              <a:rPr sz="950" b="1" i="0">
                <a:solidFill>
                  <a:srgbClr val="8A6FD8"/>
                </a:solidFill>
                <a:latin typeface="Segoe UI"/>
              </a:rPr>
              <a:t>EXPLORATORY</a:t>
            </a:r>
          </a:p>
        </p:txBody>
      </p:sp>
      <p:sp>
        <p:nvSpPr>
          <p:cNvPr id="22" name="TextBox 21"/>
          <p:cNvSpPr txBox="1"/>
          <p:nvPr/>
        </p:nvSpPr>
        <p:spPr>
          <a:xfrm>
            <a:off x="2468880" y="5376672"/>
            <a:ext cx="5486400" cy="310896"/>
          </a:xfrm>
          <a:prstGeom prst="rect">
            <a:avLst/>
          </a:prstGeom>
          <a:noFill/>
        </p:spPr>
        <p:txBody>
          <a:bodyPr wrap="square">
            <a:spAutoFit/>
          </a:bodyPr>
          <a:lstStyle/>
          <a:p>
            <a:pPr algn="l"/>
            <a:r>
              <a:rPr sz="1350" b="1" i="0">
                <a:solidFill>
                  <a:srgbClr val="0B0B0B"/>
                </a:solidFill>
                <a:latin typeface="Segoe UI"/>
              </a:rPr>
              <a:t>VICReg-style</a:t>
            </a:r>
          </a:p>
        </p:txBody>
      </p:sp>
      <p:sp>
        <p:nvSpPr>
          <p:cNvPr id="23" name="TextBox 22"/>
          <p:cNvSpPr txBox="1"/>
          <p:nvPr/>
        </p:nvSpPr>
        <p:spPr>
          <a:xfrm>
            <a:off x="8229600" y="5376672"/>
            <a:ext cx="3108960" cy="310896"/>
          </a:xfrm>
          <a:prstGeom prst="rect">
            <a:avLst/>
          </a:prstGeom>
          <a:noFill/>
        </p:spPr>
        <p:txBody>
          <a:bodyPr wrap="square">
            <a:spAutoFit/>
          </a:bodyPr>
          <a:lstStyle/>
          <a:p>
            <a:pPr algn="l"/>
            <a:r>
              <a:rPr sz="1150" b="0" i="1">
                <a:solidFill>
                  <a:srgbClr val="898781"/>
                </a:solidFill>
                <a:latin typeface="Segoe UI"/>
              </a:rPr>
              <a:t>not yet selected</a:t>
            </a:r>
          </a:p>
        </p:txBody>
      </p:sp>
      <p:sp>
        <p:nvSpPr>
          <p:cNvPr id="24" name="Oval 23"/>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630771"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NEXT STEPS</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13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Next steps</a:t>
            </a:r>
          </a:p>
        </p:txBody>
      </p:sp>
      <p:sp>
        <p:nvSpPr>
          <p:cNvPr id="6" name="TextBox 5"/>
          <p:cNvSpPr txBox="1"/>
          <p:nvPr/>
        </p:nvSpPr>
        <p:spPr>
          <a:xfrm>
            <a:off x="731520" y="1828800"/>
            <a:ext cx="10515600" cy="4206240"/>
          </a:xfrm>
          <a:prstGeom prst="rect">
            <a:avLst/>
          </a:prstGeom>
          <a:noFill/>
        </p:spPr>
        <p:txBody>
          <a:bodyPr wrap="square">
            <a:spAutoFit/>
          </a:bodyPr>
          <a:lstStyle/>
          <a:p>
            <a:pPr>
              <a:lnSpc>
                <a:spcPct val="110000"/>
              </a:lnSpc>
              <a:spcAft>
                <a:spcPts val="1500"/>
              </a:spcAft>
            </a:pPr>
            <a:r>
              <a:rPr sz="1000" b="0" i="0">
                <a:solidFill>
                  <a:srgbClr val="2A78D6"/>
                </a:solidFill>
                <a:latin typeface="Segoe UI"/>
              </a:rPr>
              <a:t>●   </a:t>
            </a:r>
            <a:r>
              <a:rPr sz="1500" b="1" i="0">
                <a:solidFill>
                  <a:srgbClr val="0B0B0B"/>
                </a:solidFill>
                <a:latin typeface="Segoe UI"/>
              </a:rPr>
              <a:t>Complete external Higgs evaluation</a:t>
            </a:r>
            <a:r>
              <a:rPr sz="1500" b="0" i="0">
                <a:solidFill>
                  <a:srgbClr val="0B0B0B"/>
                </a:solidFill>
                <a:latin typeface="Segoe UI"/>
              </a:rPr>
              <a:t> for both the 4-class and 10-class models.</a:t>
            </a:r>
          </a:p>
          <a:p>
            <a:pPr>
              <a:lnSpc>
                <a:spcPct val="110000"/>
              </a:lnSpc>
              <a:spcAft>
                <a:spcPts val="1500"/>
              </a:spcAft>
            </a:pPr>
            <a:r>
              <a:rPr sz="1000" b="0" i="0">
                <a:solidFill>
                  <a:srgbClr val="2A78D6"/>
                </a:solidFill>
                <a:latin typeface="Segoe UI"/>
              </a:rPr>
              <a:t>●   </a:t>
            </a:r>
            <a:r>
              <a:rPr sz="1500" b="1" i="0">
                <a:solidFill>
                  <a:srgbClr val="0B0B0B"/>
                </a:solidFill>
                <a:latin typeface="Segoe UI"/>
              </a:rPr>
              <a:t>Add more Higgs-related signals</a:t>
            </a:r>
            <a:r>
              <a:rPr sz="1500" b="0" i="0">
                <a:solidFill>
                  <a:srgbClr val="0B0B0B"/>
                </a:solidFill>
                <a:latin typeface="Segoe UI"/>
              </a:rPr>
              <a:t> if available.</a:t>
            </a:r>
          </a:p>
          <a:p>
            <a:pPr>
              <a:lnSpc>
                <a:spcPct val="110000"/>
              </a:lnSpc>
              <a:spcAft>
                <a:spcPts val="1500"/>
              </a:spcAft>
            </a:pPr>
            <a:r>
              <a:rPr sz="1000" b="0" i="0">
                <a:solidFill>
                  <a:srgbClr val="2A78D6"/>
                </a:solidFill>
                <a:latin typeface="Segoe UI"/>
              </a:rPr>
              <a:t>●   </a:t>
            </a:r>
            <a:r>
              <a:rPr sz="1500" b="1" i="0">
                <a:solidFill>
                  <a:srgbClr val="0B0B0B"/>
                </a:solidFill>
                <a:latin typeface="Segoe UI"/>
              </a:rPr>
              <a:t>Compare anomaly-score distributions</a:t>
            </a:r>
            <a:r>
              <a:rPr sz="1500" b="0" i="0">
                <a:solidFill>
                  <a:srgbClr val="0B0B0B"/>
                </a:solidFill>
                <a:latin typeface="Segoe UI"/>
              </a:rPr>
              <a:t> across external signal groups.</a:t>
            </a:r>
          </a:p>
          <a:p>
            <a:pPr>
              <a:lnSpc>
                <a:spcPct val="110000"/>
              </a:lnSpc>
              <a:spcAft>
                <a:spcPts val="1500"/>
              </a:spcAft>
            </a:pPr>
            <a:r>
              <a:rPr sz="1000" b="0" i="0">
                <a:solidFill>
                  <a:srgbClr val="2A78D6"/>
                </a:solidFill>
                <a:latin typeface="Segoe UI"/>
              </a:rPr>
              <a:t>●   </a:t>
            </a:r>
            <a:r>
              <a:rPr sz="1500" b="1" i="0">
                <a:solidFill>
                  <a:srgbClr val="0B0B0B"/>
                </a:solidFill>
                <a:latin typeface="Segoe UI"/>
              </a:rPr>
              <a:t>Continue testing representation objectives</a:t>
            </a:r>
            <a:r>
              <a:rPr sz="1500" b="0" i="0">
                <a:solidFill>
                  <a:srgbClr val="0B0B0B"/>
                </a:solidFill>
                <a:latin typeface="Segoe UI"/>
              </a:rPr>
              <a:t> such as VICReg / DINO / JEPA-style methods.</a:t>
            </a:r>
          </a:p>
          <a:p>
            <a:pPr>
              <a:lnSpc>
                <a:spcPct val="110000"/>
              </a:lnSpc>
              <a:spcAft>
                <a:spcPts val="1500"/>
              </a:spcAft>
            </a:pPr>
            <a:r>
              <a:rPr sz="1000" b="0" i="0">
                <a:solidFill>
                  <a:srgbClr val="2A78D6"/>
                </a:solidFill>
                <a:latin typeface="Segoe UI"/>
              </a:rPr>
              <a:t>●   </a:t>
            </a:r>
            <a:r>
              <a:rPr sz="1500" b="1" i="0">
                <a:solidFill>
                  <a:srgbClr val="0B0B0B"/>
                </a:solidFill>
                <a:latin typeface="Segoe UI"/>
              </a:rPr>
              <a:t>Validate compatibility</a:t>
            </a:r>
            <a:r>
              <a:rPr sz="1500" b="0" i="0">
                <a:solidFill>
                  <a:srgbClr val="0B0B0B"/>
                </a:solidFill>
                <a:latin typeface="Segoe UI"/>
              </a:rPr>
              <a:t> of the selected representation with future L1/FPGA constraints.</a:t>
            </a:r>
          </a:p>
        </p:txBody>
      </p:sp>
      <p:sp>
        <p:nvSpPr>
          <p:cNvPr id="7" name="Oval 6"/>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58787"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8680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457200" y="329184"/>
            <a:ext cx="201168"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19456"/>
            <a:ext cx="7315200" cy="292608"/>
          </a:xfrm>
          <a:prstGeom prst="rect">
            <a:avLst/>
          </a:prstGeom>
          <a:noFill/>
        </p:spPr>
        <p:txBody>
          <a:bodyPr wrap="square">
            <a:spAutoFit/>
          </a:bodyPr>
          <a:lstStyle/>
          <a:p>
            <a:pPr algn="l"/>
            <a:r>
              <a:rPr sz="1100" b="1" i="0" spc="130">
                <a:solidFill>
                  <a:srgbClr val="124A8C"/>
                </a:solidFill>
                <a:latin typeface="Segoe UI"/>
              </a:rPr>
              <a:t>BACKUP / REFERENCES</a:t>
            </a:r>
          </a:p>
        </p:txBody>
      </p:sp>
      <p:sp>
        <p:nvSpPr>
          <p:cNvPr id="4" name="TextBox 3"/>
          <p:cNvSpPr txBox="1"/>
          <p:nvPr/>
        </p:nvSpPr>
        <p:spPr>
          <a:xfrm>
            <a:off x="10332720" y="219456"/>
            <a:ext cx="1417320" cy="292608"/>
          </a:xfrm>
          <a:prstGeom prst="rect">
            <a:avLst/>
          </a:prstGeom>
          <a:noFill/>
        </p:spPr>
        <p:txBody>
          <a:bodyPr wrap="square">
            <a:spAutoFit/>
          </a:bodyPr>
          <a:lstStyle/>
          <a:p>
            <a:pPr algn="r"/>
            <a:r>
              <a:rPr sz="1050" b="0" i="0">
                <a:solidFill>
                  <a:srgbClr val="898781"/>
                </a:solidFill>
                <a:latin typeface="Consolas"/>
              </a:rPr>
              <a:t>14 / 14</a:t>
            </a:r>
          </a:p>
        </p:txBody>
      </p:sp>
      <p:sp>
        <p:nvSpPr>
          <p:cNvPr id="5" name="TextBox 4"/>
          <p:cNvSpPr txBox="1"/>
          <p:nvPr/>
        </p:nvSpPr>
        <p:spPr>
          <a:xfrm>
            <a:off x="457200" y="502920"/>
            <a:ext cx="11292840" cy="594360"/>
          </a:xfrm>
          <a:prstGeom prst="rect">
            <a:avLst/>
          </a:prstGeom>
          <a:noFill/>
        </p:spPr>
        <p:txBody>
          <a:bodyPr wrap="square">
            <a:spAutoFit/>
          </a:bodyPr>
          <a:lstStyle/>
          <a:p>
            <a:pPr algn="l"/>
            <a:r>
              <a:rPr sz="2500" b="1" i="0">
                <a:solidFill>
                  <a:srgbClr val="0B0B0B"/>
                </a:solidFill>
                <a:latin typeface="Segoe UI"/>
              </a:rPr>
              <a:t>Backup / References</a:t>
            </a:r>
          </a:p>
        </p:txBody>
      </p:sp>
      <p:sp>
        <p:nvSpPr>
          <p:cNvPr id="6" name="Rounded Rectangle 5"/>
          <p:cNvSpPr/>
          <p:nvPr/>
        </p:nvSpPr>
        <p:spPr>
          <a:xfrm>
            <a:off x="640080" y="1737360"/>
            <a:ext cx="10881360" cy="3566160"/>
          </a:xfrm>
          <a:prstGeom prst="roundRect">
            <a:avLst>
              <a:gd name="adj" fmla="val 6000"/>
            </a:avLst>
          </a:prstGeom>
          <a:solidFill>
            <a:srgbClr val="FFFFFF"/>
          </a:solidFill>
          <a:ln w="9525">
            <a:solidFill>
              <a:srgbClr val="D8D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10424160" cy="237744"/>
          </a:xfrm>
          <a:prstGeom prst="rect">
            <a:avLst/>
          </a:prstGeom>
          <a:noFill/>
        </p:spPr>
        <p:txBody>
          <a:bodyPr wrap="square">
            <a:spAutoFit/>
          </a:bodyPr>
          <a:lstStyle/>
          <a:p>
            <a:pPr algn="l"/>
            <a:r>
              <a:rPr sz="950" b="1" i="0" spc="90">
                <a:solidFill>
                  <a:srgbClr val="898781"/>
                </a:solidFill>
                <a:latin typeface="Segoe UI"/>
              </a:rPr>
              <a:t>SOURCE REPORTS AND DATA</a:t>
            </a:r>
          </a:p>
        </p:txBody>
      </p:sp>
      <p:sp>
        <p:nvSpPr>
          <p:cNvPr id="8" name="TextBox 7"/>
          <p:cNvSpPr txBox="1"/>
          <p:nvPr/>
        </p:nvSpPr>
        <p:spPr>
          <a:xfrm>
            <a:off x="868680" y="2331720"/>
            <a:ext cx="10241280" cy="292608"/>
          </a:xfrm>
          <a:prstGeom prst="rect">
            <a:avLst/>
          </a:prstGeom>
          <a:noFill/>
        </p:spPr>
        <p:txBody>
          <a:bodyPr wrap="square">
            <a:spAutoFit/>
          </a:bodyPr>
          <a:lstStyle/>
          <a:p>
            <a:pPr algn="l"/>
            <a:r>
              <a:rPr sz="1300" b="0" i="0">
                <a:solidFill>
                  <a:srgbClr val="0B0B0B"/>
                </a:solidFill>
                <a:latin typeface="Consolas"/>
              </a:rPr>
              <a:t>analysis/2026-08-06_external_higgs_signal_evaluation.md</a:t>
            </a:r>
          </a:p>
        </p:txBody>
      </p:sp>
      <p:sp>
        <p:nvSpPr>
          <p:cNvPr id="9" name="TextBox 8"/>
          <p:cNvSpPr txBox="1"/>
          <p:nvPr/>
        </p:nvSpPr>
        <p:spPr>
          <a:xfrm>
            <a:off x="868680" y="2715768"/>
            <a:ext cx="10241280" cy="292608"/>
          </a:xfrm>
          <a:prstGeom prst="rect">
            <a:avLst/>
          </a:prstGeom>
          <a:noFill/>
        </p:spPr>
        <p:txBody>
          <a:bodyPr wrap="square">
            <a:spAutoFit/>
          </a:bodyPr>
          <a:lstStyle/>
          <a:p>
            <a:pPr algn="l"/>
            <a:r>
              <a:rPr sz="1300" b="0" i="0">
                <a:solidFill>
                  <a:srgbClr val="0B0B0B"/>
                </a:solidFill>
                <a:latin typeface="Consolas"/>
              </a:rPr>
              <a:t>analysis/2026-07-31_superclass_loss_objective_comparison.md</a:t>
            </a:r>
          </a:p>
        </p:txBody>
      </p:sp>
      <p:sp>
        <p:nvSpPr>
          <p:cNvPr id="10" name="TextBox 9"/>
          <p:cNvSpPr txBox="1"/>
          <p:nvPr/>
        </p:nvSpPr>
        <p:spPr>
          <a:xfrm>
            <a:off x="868680" y="3099816"/>
            <a:ext cx="10241280" cy="292608"/>
          </a:xfrm>
          <a:prstGeom prst="rect">
            <a:avLst/>
          </a:prstGeom>
          <a:noFill/>
        </p:spPr>
        <p:txBody>
          <a:bodyPr wrap="square">
            <a:spAutoFit/>
          </a:bodyPr>
          <a:lstStyle/>
          <a:p>
            <a:pPr algn="l"/>
            <a:r>
              <a:rPr sz="1300" b="0" i="0">
                <a:solidFill>
                  <a:srgbClr val="0B0B0B"/>
                </a:solidFill>
                <a:latin typeface="Consolas"/>
              </a:rPr>
              <a:t>analysis/2026-07-28_best_config_finding_and_latent_sweep.md</a:t>
            </a:r>
          </a:p>
        </p:txBody>
      </p:sp>
      <p:sp>
        <p:nvSpPr>
          <p:cNvPr id="11" name="TextBox 10"/>
          <p:cNvSpPr txBox="1"/>
          <p:nvPr/>
        </p:nvSpPr>
        <p:spPr>
          <a:xfrm>
            <a:off x="868680" y="3483864"/>
            <a:ext cx="10241280" cy="292608"/>
          </a:xfrm>
          <a:prstGeom prst="rect">
            <a:avLst/>
          </a:prstGeom>
          <a:noFill/>
        </p:spPr>
        <p:txBody>
          <a:bodyPr wrap="square">
            <a:spAutoFit/>
          </a:bodyPr>
          <a:lstStyle/>
          <a:p>
            <a:pPr algn="l"/>
            <a:r>
              <a:rPr sz="1300" b="0" i="0">
                <a:solidFill>
                  <a:srgbClr val="0B0B0B"/>
                </a:solidFill>
                <a:latin typeface="Consolas"/>
              </a:rPr>
              <a:t>ngt_mha_nodes_aligned_outputs/scale_tests/unified_experiment_summary_complete_only.csv</a:t>
            </a:r>
          </a:p>
        </p:txBody>
      </p:sp>
      <p:sp>
        <p:nvSpPr>
          <p:cNvPr id="12" name="TextBox 11"/>
          <p:cNvSpPr txBox="1"/>
          <p:nvPr/>
        </p:nvSpPr>
        <p:spPr>
          <a:xfrm>
            <a:off x="868680" y="4069080"/>
            <a:ext cx="10424160" cy="237744"/>
          </a:xfrm>
          <a:prstGeom prst="rect">
            <a:avLst/>
          </a:prstGeom>
          <a:noFill/>
        </p:spPr>
        <p:txBody>
          <a:bodyPr wrap="square">
            <a:spAutoFit/>
          </a:bodyPr>
          <a:lstStyle/>
          <a:p>
            <a:pPr algn="l"/>
            <a:r>
              <a:rPr sz="950" b="1" i="0" spc="90">
                <a:solidFill>
                  <a:srgbClr val="898781"/>
                </a:solidFill>
                <a:latin typeface="Segoe UI"/>
              </a:rPr>
              <a:t>GITLAB REPOSITORY</a:t>
            </a:r>
          </a:p>
        </p:txBody>
      </p:sp>
      <p:sp>
        <p:nvSpPr>
          <p:cNvPr id="13" name="TextBox 12"/>
          <p:cNvSpPr txBox="1"/>
          <p:nvPr/>
        </p:nvSpPr>
        <p:spPr>
          <a:xfrm>
            <a:off x="868680" y="4343400"/>
            <a:ext cx="10241280" cy="320040"/>
          </a:xfrm>
          <a:prstGeom prst="rect">
            <a:avLst/>
          </a:prstGeom>
          <a:noFill/>
        </p:spPr>
        <p:txBody>
          <a:bodyPr wrap="square">
            <a:spAutoFit/>
          </a:bodyPr>
          <a:lstStyle/>
          <a:p>
            <a:pPr algn="l"/>
            <a:r>
              <a:rPr sz="1350" b="1" i="0">
                <a:solidFill>
                  <a:srgbClr val="124A8C"/>
                </a:solidFill>
                <a:latin typeface="Consolas"/>
              </a:rPr>
              <a:t>https://gitlab.cern.ch/cms-l1-ad/openlab_ss26</a:t>
            </a:r>
          </a:p>
        </p:txBody>
      </p:sp>
      <p:sp>
        <p:nvSpPr>
          <p:cNvPr id="14" name="Oval 13"/>
          <p:cNvSpPr/>
          <p:nvPr/>
        </p:nvSpPr>
        <p:spPr>
          <a:xfrm>
            <a:off x="522259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5061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47862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60664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73465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86267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99069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11870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46723"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74739"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02755"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30771"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758787" y="6583680"/>
            <a:ext cx="82296" cy="82296"/>
          </a:xfrm>
          <a:prstGeom prst="ellipse">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886803" y="6583680"/>
            <a:ext cx="82296" cy="822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